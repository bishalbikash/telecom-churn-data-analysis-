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6" r:id="rId10"/>
    <p:sldId id="267" r:id="rId11"/>
    <p:sldId id="268" r:id="rId12"/>
    <p:sldId id="269" r:id="rId13"/>
    <p:sldId id="271" r:id="rId14"/>
    <p:sldId id="272" r:id="rId15"/>
    <p:sldId id="273" r:id="rId16"/>
    <p:sldId id="275" r:id="rId17"/>
    <p:sldId id="276" r:id="rId18"/>
    <p:sldId id="281" r:id="rId19"/>
    <p:sldId id="284" r:id="rId20"/>
    <p:sldId id="286" r:id="rId21"/>
    <p:sldId id="289" r:id="rId2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946" y="12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000" b="1" i="0">
                <a:solidFill>
                  <a:schemeClr val="bg1"/>
                </a:solidFill>
                <a:latin typeface="Corbel"/>
                <a:cs typeface="Corbe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Calibri Light"/>
                <a:cs typeface="Calibri Ligh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bg1"/>
                </a:solidFill>
                <a:latin typeface="Corbel"/>
                <a:cs typeface="Corbel"/>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Calibri Light"/>
                <a:cs typeface="Calibri Ligh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bg1"/>
                </a:solidFill>
                <a:latin typeface="Corbel"/>
                <a:cs typeface="Corbe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chemeClr val="bg1"/>
                </a:solidFill>
                <a:latin typeface="Corbel"/>
                <a:cs typeface="Corbe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622292"/>
            <a:ext cx="12192000" cy="2231390"/>
          </a:xfrm>
          <a:custGeom>
            <a:avLst/>
            <a:gdLst/>
            <a:ahLst/>
            <a:cxnLst/>
            <a:rect l="l" t="t" r="r" b="b"/>
            <a:pathLst>
              <a:path w="12192000" h="2231390">
                <a:moveTo>
                  <a:pt x="12192000" y="0"/>
                </a:moveTo>
                <a:lnTo>
                  <a:pt x="0" y="0"/>
                </a:lnTo>
                <a:lnTo>
                  <a:pt x="0" y="2231135"/>
                </a:lnTo>
                <a:lnTo>
                  <a:pt x="12192000" y="2231135"/>
                </a:lnTo>
                <a:lnTo>
                  <a:pt x="12192000" y="0"/>
                </a:lnTo>
                <a:close/>
              </a:path>
            </a:pathLst>
          </a:custGeom>
          <a:solidFill>
            <a:srgbClr val="944F71"/>
          </a:solidFill>
        </p:spPr>
        <p:txBody>
          <a:bodyPr wrap="square" lIns="0" tIns="0" rIns="0" bIns="0" rtlCol="0"/>
          <a:lstStyle/>
          <a:p>
            <a:endParaRPr/>
          </a:p>
        </p:txBody>
      </p:sp>
      <p:sp>
        <p:nvSpPr>
          <p:cNvPr id="17" name="bg object 17"/>
          <p:cNvSpPr/>
          <p:nvPr/>
        </p:nvSpPr>
        <p:spPr>
          <a:xfrm>
            <a:off x="984503" y="5949696"/>
            <a:ext cx="2188845" cy="0"/>
          </a:xfrm>
          <a:custGeom>
            <a:avLst/>
            <a:gdLst/>
            <a:ahLst/>
            <a:cxnLst/>
            <a:rect l="l" t="t" r="r" b="b"/>
            <a:pathLst>
              <a:path w="2188845">
                <a:moveTo>
                  <a:pt x="2188464" y="0"/>
                </a:moveTo>
                <a:lnTo>
                  <a:pt x="0" y="0"/>
                </a:lnTo>
              </a:path>
            </a:pathLst>
          </a:custGeom>
          <a:ln w="76200">
            <a:solidFill>
              <a:srgbClr val="C490AA"/>
            </a:solidFill>
          </a:ln>
        </p:spPr>
        <p:txBody>
          <a:bodyPr wrap="square" lIns="0" tIns="0" rIns="0" bIns="0" rtlCol="0"/>
          <a:lstStyle/>
          <a:p>
            <a:endParaRPr/>
          </a:p>
        </p:txBody>
      </p:sp>
      <p:sp>
        <p:nvSpPr>
          <p:cNvPr id="2" name="Holder 2"/>
          <p:cNvSpPr>
            <a:spLocks noGrp="1"/>
          </p:cNvSpPr>
          <p:nvPr>
            <p:ph type="title"/>
          </p:nvPr>
        </p:nvSpPr>
        <p:spPr>
          <a:xfrm>
            <a:off x="6358509" y="260349"/>
            <a:ext cx="5136515" cy="635000"/>
          </a:xfrm>
          <a:prstGeom prst="rect">
            <a:avLst/>
          </a:prstGeom>
        </p:spPr>
        <p:txBody>
          <a:bodyPr wrap="square" lIns="0" tIns="0" rIns="0" bIns="0">
            <a:spAutoFit/>
          </a:bodyPr>
          <a:lstStyle>
            <a:lvl1pPr>
              <a:defRPr sz="4000" b="1" i="0">
                <a:solidFill>
                  <a:schemeClr val="bg1"/>
                </a:solidFill>
                <a:latin typeface="Corbel"/>
                <a:cs typeface="Corbel"/>
              </a:defRPr>
            </a:lvl1pPr>
          </a:lstStyle>
          <a:p>
            <a:endParaRPr/>
          </a:p>
        </p:txBody>
      </p:sp>
      <p:sp>
        <p:nvSpPr>
          <p:cNvPr id="3" name="Holder 3"/>
          <p:cNvSpPr>
            <a:spLocks noGrp="1"/>
          </p:cNvSpPr>
          <p:nvPr>
            <p:ph type="body" idx="1"/>
          </p:nvPr>
        </p:nvSpPr>
        <p:spPr>
          <a:xfrm>
            <a:off x="5124450" y="2229104"/>
            <a:ext cx="6905625" cy="4258945"/>
          </a:xfrm>
          <a:prstGeom prst="rect">
            <a:avLst/>
          </a:prstGeom>
        </p:spPr>
        <p:txBody>
          <a:bodyPr wrap="square" lIns="0" tIns="0" rIns="0" bIns="0">
            <a:spAutoFit/>
          </a:bodyPr>
          <a:lstStyle>
            <a:lvl1pPr>
              <a:defRPr sz="2000" b="0" i="0">
                <a:solidFill>
                  <a:schemeClr val="tx1"/>
                </a:solidFill>
                <a:latin typeface="Calibri Light"/>
                <a:cs typeface="Calibri Light"/>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11/28/2025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hyperlink" Target="mailto:rahultank746@gmail.com" TargetMode="External"/><Relationship Id="rId2" Type="http://schemas.openxmlformats.org/officeDocument/2006/relationships/image" Target="../media/image21.png"/><Relationship Id="rId1" Type="http://schemas.openxmlformats.org/officeDocument/2006/relationships/slideLayout" Target="../slideLayouts/slideLayout5.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4572"/>
            <a:ext cx="12191999" cy="4617720"/>
          </a:xfrm>
          <a:prstGeom prst="rect">
            <a:avLst/>
          </a:prstGeom>
        </p:spPr>
      </p:pic>
      <p:sp>
        <p:nvSpPr>
          <p:cNvPr id="3" name="object 3"/>
          <p:cNvSpPr txBox="1"/>
          <p:nvPr/>
        </p:nvSpPr>
        <p:spPr>
          <a:xfrm>
            <a:off x="916939" y="4770246"/>
            <a:ext cx="7866380" cy="772160"/>
          </a:xfrm>
          <a:prstGeom prst="rect">
            <a:avLst/>
          </a:prstGeom>
        </p:spPr>
        <p:txBody>
          <a:bodyPr vert="horz" wrap="square" lIns="0" tIns="12065" rIns="0" bIns="0" rtlCol="0">
            <a:spAutoFit/>
          </a:bodyPr>
          <a:lstStyle/>
          <a:p>
            <a:pPr marL="12700">
              <a:lnSpc>
                <a:spcPct val="100000"/>
              </a:lnSpc>
              <a:spcBef>
                <a:spcPts val="95"/>
              </a:spcBef>
            </a:pPr>
            <a:r>
              <a:rPr sz="4900" b="1" spc="-160" dirty="0">
                <a:solidFill>
                  <a:srgbClr val="FFFFFF"/>
                </a:solidFill>
                <a:latin typeface="Corbel"/>
                <a:cs typeface="Corbel"/>
              </a:rPr>
              <a:t>TELECOM</a:t>
            </a:r>
            <a:r>
              <a:rPr sz="4900" b="1" spc="-450" dirty="0">
                <a:solidFill>
                  <a:srgbClr val="FFFFFF"/>
                </a:solidFill>
                <a:latin typeface="Corbel"/>
                <a:cs typeface="Corbel"/>
              </a:rPr>
              <a:t> </a:t>
            </a:r>
            <a:r>
              <a:rPr sz="4900" b="1" spc="-170" dirty="0">
                <a:solidFill>
                  <a:srgbClr val="FFFFFF"/>
                </a:solidFill>
                <a:latin typeface="Corbel"/>
                <a:cs typeface="Corbel"/>
              </a:rPr>
              <a:t>CUSTOMER</a:t>
            </a:r>
            <a:r>
              <a:rPr sz="4900" b="1" spc="-459" dirty="0">
                <a:solidFill>
                  <a:srgbClr val="FFFFFF"/>
                </a:solidFill>
                <a:latin typeface="Corbel"/>
                <a:cs typeface="Corbel"/>
              </a:rPr>
              <a:t> </a:t>
            </a:r>
            <a:r>
              <a:rPr sz="4900" b="1" spc="-35" dirty="0">
                <a:solidFill>
                  <a:srgbClr val="FFFFFF"/>
                </a:solidFill>
                <a:latin typeface="Corbel"/>
                <a:cs typeface="Corbel"/>
              </a:rPr>
              <a:t>CHURN</a:t>
            </a:r>
            <a:endParaRPr sz="4900">
              <a:latin typeface="Corbel"/>
              <a:cs typeface="Corbel"/>
            </a:endParaRPr>
          </a:p>
        </p:txBody>
      </p:sp>
      <p:sp>
        <p:nvSpPr>
          <p:cNvPr id="4" name="object 4"/>
          <p:cNvSpPr txBox="1"/>
          <p:nvPr/>
        </p:nvSpPr>
        <p:spPr>
          <a:xfrm>
            <a:off x="916939" y="5442305"/>
            <a:ext cx="2704465" cy="772160"/>
          </a:xfrm>
          <a:prstGeom prst="rect">
            <a:avLst/>
          </a:prstGeom>
        </p:spPr>
        <p:txBody>
          <a:bodyPr vert="horz" wrap="square" lIns="0" tIns="12065" rIns="0" bIns="0" rtlCol="0">
            <a:spAutoFit/>
          </a:bodyPr>
          <a:lstStyle/>
          <a:p>
            <a:pPr marL="12700">
              <a:lnSpc>
                <a:spcPct val="100000"/>
              </a:lnSpc>
              <a:spcBef>
                <a:spcPts val="95"/>
              </a:spcBef>
            </a:pPr>
            <a:r>
              <a:rPr sz="4900" b="1" spc="-150" dirty="0">
                <a:solidFill>
                  <a:srgbClr val="FFFFFF"/>
                </a:solidFill>
                <a:latin typeface="Corbel"/>
                <a:cs typeface="Corbel"/>
              </a:rPr>
              <a:t>A</a:t>
            </a:r>
            <a:r>
              <a:rPr sz="4900" b="1" spc="-145" dirty="0">
                <a:solidFill>
                  <a:srgbClr val="FFFFFF"/>
                </a:solidFill>
                <a:latin typeface="Corbel"/>
                <a:cs typeface="Corbel"/>
              </a:rPr>
              <a:t>N</a:t>
            </a:r>
            <a:r>
              <a:rPr sz="4900" b="1" spc="-150" dirty="0">
                <a:solidFill>
                  <a:srgbClr val="FFFFFF"/>
                </a:solidFill>
                <a:latin typeface="Corbel"/>
                <a:cs typeface="Corbel"/>
              </a:rPr>
              <a:t>A</a:t>
            </a:r>
            <a:r>
              <a:rPr sz="4900" b="1" spc="-810" dirty="0">
                <a:solidFill>
                  <a:srgbClr val="FFFFFF"/>
                </a:solidFill>
                <a:latin typeface="Corbel"/>
                <a:cs typeface="Corbel"/>
              </a:rPr>
              <a:t>L</a:t>
            </a:r>
            <a:r>
              <a:rPr sz="4900" b="1" spc="-145" dirty="0">
                <a:solidFill>
                  <a:srgbClr val="FFFFFF"/>
                </a:solidFill>
                <a:latin typeface="Corbel"/>
                <a:cs typeface="Corbel"/>
              </a:rPr>
              <a:t>Y</a:t>
            </a:r>
            <a:r>
              <a:rPr sz="4900" b="1" spc="-150" dirty="0">
                <a:solidFill>
                  <a:srgbClr val="FFFFFF"/>
                </a:solidFill>
                <a:latin typeface="Corbel"/>
                <a:cs typeface="Corbel"/>
              </a:rPr>
              <a:t>S</a:t>
            </a:r>
            <a:r>
              <a:rPr sz="4900" b="1" spc="-140" dirty="0">
                <a:solidFill>
                  <a:srgbClr val="FFFFFF"/>
                </a:solidFill>
                <a:latin typeface="Corbel"/>
                <a:cs typeface="Corbel"/>
              </a:rPr>
              <a:t>I</a:t>
            </a:r>
            <a:r>
              <a:rPr sz="4900" b="1" dirty="0">
                <a:solidFill>
                  <a:srgbClr val="FFFFFF"/>
                </a:solidFill>
                <a:latin typeface="Corbel"/>
                <a:cs typeface="Corbel"/>
              </a:rPr>
              <a:t>S</a:t>
            </a:r>
            <a:endParaRPr sz="4900">
              <a:latin typeface="Corbel"/>
              <a:cs typeface="Corbel"/>
            </a:endParaRPr>
          </a:p>
        </p:txBody>
      </p:sp>
      <p:sp>
        <p:nvSpPr>
          <p:cNvPr id="5" name="object 5"/>
          <p:cNvSpPr txBox="1"/>
          <p:nvPr/>
        </p:nvSpPr>
        <p:spPr>
          <a:xfrm>
            <a:off x="7129653" y="5943701"/>
            <a:ext cx="4914265" cy="889346"/>
          </a:xfrm>
          <a:prstGeom prst="rect">
            <a:avLst/>
          </a:prstGeom>
        </p:spPr>
        <p:txBody>
          <a:bodyPr vert="horz" wrap="square" lIns="0" tIns="108585" rIns="0" bIns="0" rtlCol="0">
            <a:spAutoFit/>
          </a:bodyPr>
          <a:lstStyle/>
          <a:p>
            <a:pPr marL="12700">
              <a:lnSpc>
                <a:spcPct val="100000"/>
              </a:lnSpc>
              <a:spcBef>
                <a:spcPts val="855"/>
              </a:spcBef>
              <a:tabLst>
                <a:tab pos="1045844" algn="l"/>
                <a:tab pos="1969770" algn="l"/>
              </a:tabLst>
            </a:pPr>
            <a:r>
              <a:rPr sz="2200" dirty="0">
                <a:solidFill>
                  <a:srgbClr val="FFFFFF"/>
                </a:solidFill>
                <a:latin typeface="Calibri Light"/>
                <a:cs typeface="Calibri Light"/>
              </a:rPr>
              <a:t>N</a:t>
            </a:r>
            <a:r>
              <a:rPr sz="2200" spc="-190" dirty="0">
                <a:solidFill>
                  <a:srgbClr val="FFFFFF"/>
                </a:solidFill>
                <a:latin typeface="Calibri Light"/>
                <a:cs typeface="Calibri Light"/>
              </a:rPr>
              <a:t> </a:t>
            </a:r>
            <a:r>
              <a:rPr sz="2200" spc="-20" dirty="0">
                <a:solidFill>
                  <a:srgbClr val="FFFFFF"/>
                </a:solidFill>
                <a:latin typeface="Calibri Light"/>
                <a:cs typeface="Calibri Light"/>
              </a:rPr>
              <a:t>a</a:t>
            </a:r>
            <a:r>
              <a:rPr sz="2200" spc="-195" dirty="0">
                <a:solidFill>
                  <a:srgbClr val="FFFFFF"/>
                </a:solidFill>
                <a:latin typeface="Calibri Light"/>
                <a:cs typeface="Calibri Light"/>
              </a:rPr>
              <a:t> </a:t>
            </a:r>
            <a:r>
              <a:rPr sz="2200" spc="-25" dirty="0">
                <a:solidFill>
                  <a:srgbClr val="FFFFFF"/>
                </a:solidFill>
                <a:latin typeface="Calibri Light"/>
                <a:cs typeface="Calibri Light"/>
              </a:rPr>
              <a:t>m</a:t>
            </a:r>
            <a:r>
              <a:rPr sz="2200" spc="-190" dirty="0">
                <a:solidFill>
                  <a:srgbClr val="FFFFFF"/>
                </a:solidFill>
                <a:latin typeface="Calibri Light"/>
                <a:cs typeface="Calibri Light"/>
              </a:rPr>
              <a:t> </a:t>
            </a:r>
            <a:r>
              <a:rPr sz="2200" spc="-20" dirty="0">
                <a:solidFill>
                  <a:srgbClr val="FFFFFF"/>
                </a:solidFill>
                <a:latin typeface="Calibri Light"/>
                <a:cs typeface="Calibri Light"/>
              </a:rPr>
              <a:t>e</a:t>
            </a:r>
            <a:r>
              <a:rPr sz="2200" spc="-195" dirty="0">
                <a:solidFill>
                  <a:srgbClr val="FFFFFF"/>
                </a:solidFill>
                <a:latin typeface="Calibri Light"/>
                <a:cs typeface="Calibri Light"/>
              </a:rPr>
              <a:t> </a:t>
            </a:r>
            <a:r>
              <a:rPr sz="2200" spc="-50" dirty="0">
                <a:solidFill>
                  <a:srgbClr val="FFFFFF"/>
                </a:solidFill>
                <a:latin typeface="Calibri Light"/>
                <a:cs typeface="Calibri Light"/>
              </a:rPr>
              <a:t>:</a:t>
            </a:r>
            <a:r>
              <a:rPr sz="2200" dirty="0">
                <a:solidFill>
                  <a:srgbClr val="FFFFFF"/>
                </a:solidFill>
                <a:latin typeface="Calibri Light"/>
                <a:cs typeface="Calibri Light"/>
              </a:rPr>
              <a:t>	</a:t>
            </a:r>
            <a:r>
              <a:rPr lang="en-IN" sz="2200" spc="-20" dirty="0">
                <a:solidFill>
                  <a:srgbClr val="FFFFFF"/>
                </a:solidFill>
                <a:latin typeface="Calibri Light"/>
                <a:cs typeface="Calibri Light"/>
              </a:rPr>
              <a:t>Bishal Bikash Mohanty</a:t>
            </a:r>
            <a:endParaRPr sz="2200" dirty="0">
              <a:latin typeface="Calibri Light"/>
              <a:cs typeface="Calibri Light"/>
            </a:endParaRPr>
          </a:p>
          <a:p>
            <a:pPr marL="12700">
              <a:lnSpc>
                <a:spcPct val="100000"/>
              </a:lnSpc>
              <a:spcBef>
                <a:spcPts val="755"/>
              </a:spcBef>
            </a:pPr>
            <a:r>
              <a:rPr sz="2200" spc="-20" dirty="0">
                <a:solidFill>
                  <a:srgbClr val="FFFFFF"/>
                </a:solidFill>
                <a:latin typeface="Calibri Light"/>
                <a:cs typeface="Calibri Light"/>
              </a:rPr>
              <a:t>E</a:t>
            </a:r>
            <a:r>
              <a:rPr sz="2200" spc="-204" dirty="0">
                <a:solidFill>
                  <a:srgbClr val="FFFFFF"/>
                </a:solidFill>
                <a:latin typeface="Calibri Light"/>
                <a:cs typeface="Calibri Light"/>
              </a:rPr>
              <a:t> </a:t>
            </a:r>
            <a:r>
              <a:rPr sz="2200" spc="-25" dirty="0">
                <a:solidFill>
                  <a:srgbClr val="FFFFFF"/>
                </a:solidFill>
                <a:latin typeface="Calibri Light"/>
                <a:cs typeface="Calibri Light"/>
              </a:rPr>
              <a:t>m</a:t>
            </a:r>
            <a:r>
              <a:rPr sz="2200" spc="-195" dirty="0">
                <a:solidFill>
                  <a:srgbClr val="FFFFFF"/>
                </a:solidFill>
                <a:latin typeface="Calibri Light"/>
                <a:cs typeface="Calibri Light"/>
              </a:rPr>
              <a:t> </a:t>
            </a:r>
            <a:r>
              <a:rPr sz="2200" spc="-20" dirty="0">
                <a:solidFill>
                  <a:srgbClr val="FFFFFF"/>
                </a:solidFill>
                <a:latin typeface="Calibri Light"/>
                <a:cs typeface="Calibri Light"/>
              </a:rPr>
              <a:t>a</a:t>
            </a:r>
            <a:r>
              <a:rPr sz="2200" spc="-200" dirty="0">
                <a:solidFill>
                  <a:srgbClr val="FFFFFF"/>
                </a:solidFill>
                <a:latin typeface="Calibri Light"/>
                <a:cs typeface="Calibri Light"/>
              </a:rPr>
              <a:t> </a:t>
            </a:r>
            <a:r>
              <a:rPr sz="2200" spc="-10" dirty="0">
                <a:solidFill>
                  <a:srgbClr val="FFFFFF"/>
                </a:solidFill>
                <a:latin typeface="Calibri Light"/>
                <a:cs typeface="Calibri Light"/>
              </a:rPr>
              <a:t>i</a:t>
            </a:r>
            <a:r>
              <a:rPr sz="2200" spc="-204" dirty="0">
                <a:solidFill>
                  <a:srgbClr val="FFFFFF"/>
                </a:solidFill>
                <a:latin typeface="Calibri Light"/>
                <a:cs typeface="Calibri Light"/>
              </a:rPr>
              <a:t> </a:t>
            </a:r>
            <a:r>
              <a:rPr sz="2200" spc="-10" dirty="0">
                <a:solidFill>
                  <a:srgbClr val="FFFFFF"/>
                </a:solidFill>
                <a:latin typeface="Calibri Light"/>
                <a:cs typeface="Calibri Light"/>
              </a:rPr>
              <a:t>l</a:t>
            </a:r>
            <a:r>
              <a:rPr sz="2200" spc="-200" dirty="0">
                <a:solidFill>
                  <a:srgbClr val="FFFFFF"/>
                </a:solidFill>
                <a:latin typeface="Calibri Light"/>
                <a:cs typeface="Calibri Light"/>
              </a:rPr>
              <a:t> </a:t>
            </a:r>
            <a:r>
              <a:rPr sz="2200" dirty="0">
                <a:solidFill>
                  <a:srgbClr val="FFFFFF"/>
                </a:solidFill>
                <a:latin typeface="Calibri Light"/>
                <a:cs typeface="Calibri Light"/>
              </a:rPr>
              <a:t>:</a:t>
            </a:r>
            <a:r>
              <a:rPr sz="2200" spc="-200" dirty="0">
                <a:solidFill>
                  <a:srgbClr val="FFFFFF"/>
                </a:solidFill>
                <a:latin typeface="Calibri Light"/>
                <a:cs typeface="Calibri Light"/>
              </a:rPr>
              <a:t> </a:t>
            </a:r>
            <a:r>
              <a:rPr sz="2200" u="sng" spc="-85" dirty="0">
                <a:solidFill>
                  <a:srgbClr val="00184B"/>
                </a:solidFill>
                <a:uFill>
                  <a:solidFill>
                    <a:srgbClr val="00184B"/>
                  </a:solidFill>
                </a:uFill>
                <a:latin typeface="Bahnschrift"/>
                <a:cs typeface="Bahnschrift"/>
              </a:rPr>
              <a:t> </a:t>
            </a:r>
            <a:r>
              <a:rPr lang="en-IN" sz="2200" u="sng" spc="-85" dirty="0">
                <a:solidFill>
                  <a:srgbClr val="00184B"/>
                </a:solidFill>
                <a:uFill>
                  <a:solidFill>
                    <a:srgbClr val="00184B"/>
                  </a:solidFill>
                </a:uFill>
                <a:latin typeface="Bahnschrift"/>
                <a:cs typeface="Bahnschrift"/>
              </a:rPr>
              <a:t>bikashbishalmohanty@gmail.com</a:t>
            </a:r>
            <a:endParaRPr sz="2200" dirty="0">
              <a:latin typeface="Bahnschrift"/>
              <a:cs typeface="Bahnschrif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flipV="1">
            <a:off x="243348" y="1015542"/>
            <a:ext cx="2081683" cy="51258"/>
          </a:xfrm>
          <a:custGeom>
            <a:avLst/>
            <a:gdLst/>
            <a:ahLst/>
            <a:cxnLst/>
            <a:rect l="l" t="t" r="r" b="b"/>
            <a:pathLst>
              <a:path w="1931035">
                <a:moveTo>
                  <a:pt x="1930908" y="0"/>
                </a:moveTo>
                <a:lnTo>
                  <a:pt x="0" y="0"/>
                </a:lnTo>
              </a:path>
            </a:pathLst>
          </a:custGeom>
          <a:ln w="76200">
            <a:solidFill>
              <a:srgbClr val="944F71"/>
            </a:solidFill>
          </a:ln>
        </p:spPr>
        <p:txBody>
          <a:bodyPr wrap="square" lIns="0" tIns="0" rIns="0" bIns="0" rtlCol="0"/>
          <a:lstStyle/>
          <a:p>
            <a:endParaRPr/>
          </a:p>
        </p:txBody>
      </p:sp>
      <p:sp>
        <p:nvSpPr>
          <p:cNvPr id="3" name="object 3"/>
          <p:cNvSpPr txBox="1"/>
          <p:nvPr/>
        </p:nvSpPr>
        <p:spPr>
          <a:xfrm>
            <a:off x="243348" y="228600"/>
            <a:ext cx="2081683" cy="786942"/>
          </a:xfrm>
          <a:prstGeom prst="rect">
            <a:avLst/>
          </a:prstGeom>
        </p:spPr>
        <p:txBody>
          <a:bodyPr vert="horz" wrap="square" lIns="0" tIns="13335" rIns="0" bIns="0" rtlCol="0">
            <a:spAutoFit/>
          </a:bodyPr>
          <a:lstStyle/>
          <a:p>
            <a:pPr marL="12700">
              <a:lnSpc>
                <a:spcPct val="100000"/>
              </a:lnSpc>
              <a:spcBef>
                <a:spcPts val="105"/>
              </a:spcBef>
            </a:pPr>
            <a:r>
              <a:rPr sz="5000" b="1" spc="-125" dirty="0">
                <a:latin typeface="Corbel"/>
                <a:cs typeface="Corbel"/>
              </a:rPr>
              <a:t>Agenda</a:t>
            </a:r>
            <a:endParaRPr sz="5000" dirty="0">
              <a:latin typeface="Corbel"/>
              <a:cs typeface="Corbel"/>
            </a:endParaRPr>
          </a:p>
        </p:txBody>
      </p:sp>
      <p:pic>
        <p:nvPicPr>
          <p:cNvPr id="6" name="object 6"/>
          <p:cNvPicPr/>
          <p:nvPr/>
        </p:nvPicPr>
        <p:blipFill>
          <a:blip r:embed="rId2" cstate="print"/>
          <a:stretch>
            <a:fillRect/>
          </a:stretch>
        </p:blipFill>
        <p:spPr>
          <a:xfrm>
            <a:off x="8634983" y="812291"/>
            <a:ext cx="3557015" cy="5233416"/>
          </a:xfrm>
          <a:prstGeom prst="rect">
            <a:avLst/>
          </a:prstGeom>
        </p:spPr>
      </p:pic>
      <p:sp>
        <p:nvSpPr>
          <p:cNvPr id="14" name="TextBox 13">
            <a:extLst>
              <a:ext uri="{FF2B5EF4-FFF2-40B4-BE49-F238E27FC236}">
                <a16:creationId xmlns:a16="http://schemas.microsoft.com/office/drawing/2014/main" id="{3039F828-1E99-0A85-FEE0-D2108B2B2787}"/>
              </a:ext>
            </a:extLst>
          </p:cNvPr>
          <p:cNvSpPr txBox="1"/>
          <p:nvPr/>
        </p:nvSpPr>
        <p:spPr>
          <a:xfrm>
            <a:off x="243348" y="1219200"/>
            <a:ext cx="6096000" cy="1477328"/>
          </a:xfrm>
          <a:prstGeom prst="rect">
            <a:avLst/>
          </a:prstGeom>
          <a:noFill/>
        </p:spPr>
        <p:txBody>
          <a:bodyPr wrap="square">
            <a:spAutoFit/>
          </a:bodyPr>
          <a:lstStyle/>
          <a:p>
            <a:r>
              <a:rPr lang="en-US" dirty="0"/>
              <a:t>This presentation covers the complete telecom churn analysis workflow, including the project overview, dataset details, business problem, data cleaning steps, key insights, customer behavior patterns, churn factors, dashboard walkthrough, and final recommendations.</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67785" y="152400"/>
            <a:ext cx="5047615" cy="751488"/>
          </a:xfrm>
          <a:prstGeom prst="rect">
            <a:avLst/>
          </a:prstGeom>
        </p:spPr>
        <p:txBody>
          <a:bodyPr vert="horz" wrap="square" lIns="0" tIns="12700" rIns="0" bIns="0" rtlCol="0">
            <a:spAutoFit/>
          </a:bodyPr>
          <a:lstStyle/>
          <a:p>
            <a:pPr marL="12700">
              <a:lnSpc>
                <a:spcPct val="100000"/>
              </a:lnSpc>
              <a:spcBef>
                <a:spcPts val="100"/>
              </a:spcBef>
            </a:pPr>
            <a:r>
              <a:rPr lang="en-IN" sz="4800" dirty="0">
                <a:solidFill>
                  <a:schemeClr val="tx1"/>
                </a:solidFill>
              </a:rPr>
              <a:t>Project Overview</a:t>
            </a:r>
            <a:endParaRPr sz="4800" dirty="0">
              <a:solidFill>
                <a:schemeClr val="tx1"/>
              </a:solidFill>
            </a:endParaRPr>
          </a:p>
        </p:txBody>
      </p:sp>
      <p:sp>
        <p:nvSpPr>
          <p:cNvPr id="4" name="TextBox 3">
            <a:extLst>
              <a:ext uri="{FF2B5EF4-FFF2-40B4-BE49-F238E27FC236}">
                <a16:creationId xmlns:a16="http://schemas.microsoft.com/office/drawing/2014/main" id="{D3D42672-DB75-BBD7-7D93-5160F5806DD2}"/>
              </a:ext>
            </a:extLst>
          </p:cNvPr>
          <p:cNvSpPr txBox="1"/>
          <p:nvPr/>
        </p:nvSpPr>
        <p:spPr>
          <a:xfrm>
            <a:off x="152400" y="1219200"/>
            <a:ext cx="8991600" cy="1200329"/>
          </a:xfrm>
          <a:prstGeom prst="rect">
            <a:avLst/>
          </a:prstGeom>
          <a:noFill/>
        </p:spPr>
        <p:txBody>
          <a:bodyPr wrap="square">
            <a:spAutoFit/>
          </a:bodyPr>
          <a:lstStyle/>
          <a:p>
            <a:r>
              <a:rPr lang="en-US" dirty="0"/>
              <a:t>Telecom companies face high customer churn due to increasing competition and service dissatisfaction. This project analyzes customer data to identify churn drivers, highlight risky customer segments, and provide data-driven insights to support retention strategies.</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7994"/>
            <a:chOff x="-2" y="0"/>
            <a:chExt cx="12192000" cy="6857994"/>
          </a:xfrm>
        </p:grpSpPr>
        <p:sp>
          <p:nvSpPr>
            <p:cNvPr id="3" name="object 3"/>
            <p:cNvSpPr/>
            <p:nvPr/>
          </p:nvSpPr>
          <p:spPr>
            <a:xfrm>
              <a:off x="0" y="0"/>
              <a:ext cx="12191998" cy="3429000"/>
            </a:xfrm>
            <a:custGeom>
              <a:avLst/>
              <a:gdLst/>
              <a:ahLst/>
              <a:cxnLst/>
              <a:rect l="l" t="t" r="r" b="b"/>
              <a:pathLst>
                <a:path w="4745990" h="3429000">
                  <a:moveTo>
                    <a:pt x="4745736" y="0"/>
                  </a:moveTo>
                  <a:lnTo>
                    <a:pt x="0" y="0"/>
                  </a:lnTo>
                  <a:lnTo>
                    <a:pt x="0" y="3429000"/>
                  </a:lnTo>
                  <a:lnTo>
                    <a:pt x="4745736" y="3429000"/>
                  </a:lnTo>
                  <a:lnTo>
                    <a:pt x="4745736" y="0"/>
                  </a:lnTo>
                  <a:close/>
                </a:path>
              </a:pathLst>
            </a:custGeom>
            <a:solidFill>
              <a:srgbClr val="0E3954"/>
            </a:solidFill>
          </p:spPr>
          <p:txBody>
            <a:bodyPr wrap="square" lIns="0" tIns="0" rIns="0" bIns="0" rtlCol="0"/>
            <a:lstStyle/>
            <a:p>
              <a:endParaRPr dirty="0"/>
            </a:p>
          </p:txBody>
        </p:sp>
        <p:pic>
          <p:nvPicPr>
            <p:cNvPr id="4" name="object 4"/>
            <p:cNvPicPr/>
            <p:nvPr/>
          </p:nvPicPr>
          <p:blipFill>
            <a:blip r:embed="rId2" cstate="print"/>
            <a:stretch>
              <a:fillRect/>
            </a:stretch>
          </p:blipFill>
          <p:spPr>
            <a:xfrm>
              <a:off x="-2" y="3428995"/>
              <a:ext cx="5105398" cy="3428999"/>
            </a:xfrm>
            <a:prstGeom prst="rect">
              <a:avLst/>
            </a:prstGeom>
          </p:spPr>
        </p:pic>
      </p:grpSp>
      <p:sp>
        <p:nvSpPr>
          <p:cNvPr id="5" name="object 5"/>
          <p:cNvSpPr txBox="1"/>
          <p:nvPr/>
        </p:nvSpPr>
        <p:spPr>
          <a:xfrm>
            <a:off x="1180896" y="645413"/>
            <a:ext cx="6210504" cy="705962"/>
          </a:xfrm>
          <a:prstGeom prst="rect">
            <a:avLst/>
          </a:prstGeom>
        </p:spPr>
        <p:txBody>
          <a:bodyPr vert="horz" wrap="square" lIns="0" tIns="89535" rIns="0" bIns="0" rtlCol="0">
            <a:spAutoFit/>
          </a:bodyPr>
          <a:lstStyle/>
          <a:p>
            <a:pPr marL="12700" marR="5080" indent="272415">
              <a:lnSpc>
                <a:spcPts val="4750"/>
              </a:lnSpc>
              <a:spcBef>
                <a:spcPts val="705"/>
              </a:spcBef>
            </a:pPr>
            <a:r>
              <a:rPr lang="en-IN" sz="4400" dirty="0">
                <a:solidFill>
                  <a:schemeClr val="bg1"/>
                </a:solidFill>
              </a:rPr>
              <a:t>Business Problem</a:t>
            </a:r>
            <a:endParaRPr sz="4400" dirty="0">
              <a:solidFill>
                <a:schemeClr val="bg1"/>
              </a:solidFill>
              <a:latin typeface="Corbel"/>
              <a:cs typeface="Corbel"/>
            </a:endParaRPr>
          </a:p>
        </p:txBody>
      </p:sp>
      <p:sp>
        <p:nvSpPr>
          <p:cNvPr id="9" name="TextBox 8">
            <a:extLst>
              <a:ext uri="{FF2B5EF4-FFF2-40B4-BE49-F238E27FC236}">
                <a16:creationId xmlns:a16="http://schemas.microsoft.com/office/drawing/2014/main" id="{84E579F5-99CD-BCD9-FD1C-0984B5A8C551}"/>
              </a:ext>
            </a:extLst>
          </p:cNvPr>
          <p:cNvSpPr txBox="1"/>
          <p:nvPr/>
        </p:nvSpPr>
        <p:spPr>
          <a:xfrm>
            <a:off x="5573660" y="3751273"/>
            <a:ext cx="6096000" cy="1477328"/>
          </a:xfrm>
          <a:prstGeom prst="rect">
            <a:avLst/>
          </a:prstGeom>
          <a:noFill/>
        </p:spPr>
        <p:txBody>
          <a:bodyPr wrap="square">
            <a:spAutoFit/>
          </a:bodyPr>
          <a:lstStyle/>
          <a:p>
            <a:r>
              <a:rPr lang="en-US" dirty="0"/>
              <a:t>Customer churn directly impacts revenue and long-term profitability. Understanding the reasons behind churn enables companies to take preventive action. The challenge is to detect early signs of dissatisfaction and implement retention-focused strategies.</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374" y="0"/>
            <a:ext cx="8484361" cy="6858000"/>
          </a:xfrm>
          <a:custGeom>
            <a:avLst/>
            <a:gdLst/>
            <a:ahLst/>
            <a:cxnLst/>
            <a:rect l="l" t="t" r="r" b="b"/>
            <a:pathLst>
              <a:path w="4776470" h="6858000">
                <a:moveTo>
                  <a:pt x="4776216" y="0"/>
                </a:moveTo>
                <a:lnTo>
                  <a:pt x="0" y="0"/>
                </a:lnTo>
                <a:lnTo>
                  <a:pt x="0" y="6858000"/>
                </a:lnTo>
                <a:lnTo>
                  <a:pt x="4776216" y="6858000"/>
                </a:lnTo>
                <a:lnTo>
                  <a:pt x="4776216" y="0"/>
                </a:lnTo>
                <a:close/>
              </a:path>
            </a:pathLst>
          </a:custGeom>
          <a:solidFill>
            <a:srgbClr val="944F71"/>
          </a:solidFill>
        </p:spPr>
        <p:txBody>
          <a:bodyPr wrap="square" lIns="0" tIns="0" rIns="0" bIns="0" rtlCol="0"/>
          <a:lstStyle/>
          <a:p>
            <a:endParaRPr/>
          </a:p>
        </p:txBody>
      </p:sp>
      <p:sp>
        <p:nvSpPr>
          <p:cNvPr id="3" name="object 3"/>
          <p:cNvSpPr txBox="1">
            <a:spLocks noGrp="1"/>
          </p:cNvSpPr>
          <p:nvPr>
            <p:ph type="title"/>
          </p:nvPr>
        </p:nvSpPr>
        <p:spPr>
          <a:xfrm>
            <a:off x="76200" y="76200"/>
            <a:ext cx="8408161" cy="633507"/>
          </a:xfrm>
          <a:prstGeom prst="rect">
            <a:avLst/>
          </a:prstGeom>
        </p:spPr>
        <p:txBody>
          <a:bodyPr vert="horz" wrap="square" lIns="0" tIns="81280" rIns="0" bIns="0" rtlCol="0">
            <a:spAutoFit/>
          </a:bodyPr>
          <a:lstStyle/>
          <a:p>
            <a:pPr marL="12700" marR="5080">
              <a:lnSpc>
                <a:spcPts val="4320"/>
              </a:lnSpc>
              <a:spcBef>
                <a:spcPts val="640"/>
              </a:spcBef>
            </a:pPr>
            <a:r>
              <a:rPr lang="en-IN" dirty="0"/>
              <a:t>About the Dataset</a:t>
            </a:r>
            <a:endParaRPr spc="-10" dirty="0"/>
          </a:p>
        </p:txBody>
      </p:sp>
      <p:sp>
        <p:nvSpPr>
          <p:cNvPr id="4" name="object 4"/>
          <p:cNvSpPr txBox="1"/>
          <p:nvPr/>
        </p:nvSpPr>
        <p:spPr>
          <a:xfrm>
            <a:off x="76200" y="785907"/>
            <a:ext cx="8610600" cy="1458733"/>
          </a:xfrm>
          <a:prstGeom prst="rect">
            <a:avLst/>
          </a:prstGeom>
        </p:spPr>
        <p:txBody>
          <a:bodyPr vert="horz" wrap="square" lIns="0" tIns="47625" rIns="0" bIns="0" rtlCol="0">
            <a:spAutoFit/>
          </a:bodyPr>
          <a:lstStyle/>
          <a:p>
            <a:pPr marL="12700" marR="441325">
              <a:lnSpc>
                <a:spcPts val="2160"/>
              </a:lnSpc>
              <a:spcBef>
                <a:spcPts val="375"/>
              </a:spcBef>
              <a:tabLst>
                <a:tab pos="241300" algn="l"/>
              </a:tabLst>
            </a:pPr>
            <a:r>
              <a:rPr lang="en-US" sz="2000" dirty="0"/>
              <a:t>The dataset contains customer demographics, subscription details, billing information, and churn status. It includes variables such as gender, senior citizen, tenure, contract type, payment method, internet services, monthly charges, total charges, and whether the customer has churned.</a:t>
            </a:r>
            <a:endParaRPr sz="2000" dirty="0">
              <a:latin typeface="Calibri Light"/>
              <a:cs typeface="Calibri Light"/>
            </a:endParaRPr>
          </a:p>
        </p:txBody>
      </p:sp>
      <p:pic>
        <p:nvPicPr>
          <p:cNvPr id="6" name="object 6"/>
          <p:cNvPicPr/>
          <p:nvPr/>
        </p:nvPicPr>
        <p:blipFill>
          <a:blip r:embed="rId2" cstate="print"/>
          <a:stretch>
            <a:fillRect/>
          </a:stretch>
        </p:blipFill>
        <p:spPr>
          <a:xfrm>
            <a:off x="8499109" y="4572"/>
            <a:ext cx="3707891" cy="685342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358509" y="1737562"/>
            <a:ext cx="5600700" cy="4351020"/>
          </a:xfrm>
          <a:prstGeom prst="rect">
            <a:avLst/>
          </a:prstGeom>
        </p:spPr>
        <p:txBody>
          <a:bodyPr vert="horz" wrap="square" lIns="0" tIns="43180" rIns="0" bIns="0" rtlCol="0">
            <a:spAutoFit/>
          </a:bodyPr>
          <a:lstStyle/>
          <a:p>
            <a:pPr marL="240665" indent="-227965">
              <a:lnSpc>
                <a:spcPct val="100000"/>
              </a:lnSpc>
              <a:spcBef>
                <a:spcPts val="340"/>
              </a:spcBef>
              <a:buClr>
                <a:srgbClr val="FFFFFF"/>
              </a:buClr>
              <a:buFont typeface="Arial MT"/>
              <a:buChar char="•"/>
              <a:tabLst>
                <a:tab pos="240665" algn="l"/>
              </a:tabLst>
            </a:pPr>
            <a:r>
              <a:rPr sz="2000" spc="-135" dirty="0">
                <a:solidFill>
                  <a:srgbClr val="FFFFFF"/>
                </a:solidFill>
                <a:latin typeface="Calibri Light"/>
                <a:cs typeface="Calibri Light"/>
              </a:rPr>
              <a:t>What</a:t>
            </a:r>
            <a:r>
              <a:rPr sz="2000" spc="-260" dirty="0">
                <a:solidFill>
                  <a:srgbClr val="FFFFFF"/>
                </a:solidFill>
                <a:latin typeface="Calibri Light"/>
                <a:cs typeface="Calibri Light"/>
              </a:rPr>
              <a:t> </a:t>
            </a:r>
            <a:r>
              <a:rPr sz="2000" spc="-85" dirty="0">
                <a:solidFill>
                  <a:srgbClr val="FFFFFF"/>
                </a:solidFill>
                <a:latin typeface="Calibri Light"/>
                <a:cs typeface="Calibri Light"/>
              </a:rPr>
              <a:t>is</a:t>
            </a:r>
            <a:r>
              <a:rPr sz="2000" spc="-270" dirty="0">
                <a:solidFill>
                  <a:srgbClr val="FFFFFF"/>
                </a:solidFill>
                <a:latin typeface="Calibri Light"/>
                <a:cs typeface="Calibri Light"/>
              </a:rPr>
              <a:t> </a:t>
            </a:r>
            <a:r>
              <a:rPr sz="2000" spc="-114" dirty="0">
                <a:solidFill>
                  <a:srgbClr val="FFFFFF"/>
                </a:solidFill>
                <a:latin typeface="Calibri Light"/>
                <a:cs typeface="Calibri Light"/>
              </a:rPr>
              <a:t>the</a:t>
            </a:r>
            <a:r>
              <a:rPr sz="2000" spc="-254" dirty="0">
                <a:solidFill>
                  <a:srgbClr val="FFFFFF"/>
                </a:solidFill>
                <a:latin typeface="Calibri Light"/>
                <a:cs typeface="Calibri Light"/>
              </a:rPr>
              <a:t> </a:t>
            </a:r>
            <a:r>
              <a:rPr sz="2000" spc="-160" dirty="0">
                <a:solidFill>
                  <a:srgbClr val="FFFFFF"/>
                </a:solidFill>
                <a:latin typeface="Calibri Light"/>
                <a:cs typeface="Calibri Light"/>
              </a:rPr>
              <a:t>percentage</a:t>
            </a:r>
            <a:r>
              <a:rPr sz="2000" spc="-280" dirty="0">
                <a:solidFill>
                  <a:srgbClr val="FFFFFF"/>
                </a:solidFill>
                <a:latin typeface="Calibri Light"/>
                <a:cs typeface="Calibri Light"/>
              </a:rPr>
              <a:t> </a:t>
            </a:r>
            <a:r>
              <a:rPr sz="2000" spc="-90" dirty="0">
                <a:solidFill>
                  <a:srgbClr val="FFFFFF"/>
                </a:solidFill>
                <a:latin typeface="Calibri Light"/>
                <a:cs typeface="Calibri Light"/>
              </a:rPr>
              <a:t>of</a:t>
            </a:r>
            <a:r>
              <a:rPr sz="2000" spc="-265" dirty="0">
                <a:solidFill>
                  <a:srgbClr val="FFFFFF"/>
                </a:solidFill>
                <a:latin typeface="Calibri Light"/>
                <a:cs typeface="Calibri Light"/>
              </a:rPr>
              <a:t> </a:t>
            </a:r>
            <a:r>
              <a:rPr sz="2000" spc="-130" dirty="0">
                <a:solidFill>
                  <a:srgbClr val="FFFFFF"/>
                </a:solidFill>
                <a:latin typeface="Calibri Light"/>
                <a:cs typeface="Calibri Light"/>
              </a:rPr>
              <a:t>male</a:t>
            </a:r>
            <a:r>
              <a:rPr sz="2000" spc="-270" dirty="0">
                <a:solidFill>
                  <a:srgbClr val="FFFFFF"/>
                </a:solidFill>
                <a:latin typeface="Calibri Light"/>
                <a:cs typeface="Calibri Light"/>
              </a:rPr>
              <a:t> </a:t>
            </a:r>
            <a:r>
              <a:rPr sz="2000" dirty="0">
                <a:solidFill>
                  <a:srgbClr val="FFFFFF"/>
                </a:solidFill>
                <a:latin typeface="Calibri Light"/>
                <a:cs typeface="Calibri Light"/>
              </a:rPr>
              <a:t>&amp;</a:t>
            </a:r>
            <a:r>
              <a:rPr sz="2000" spc="-280" dirty="0">
                <a:solidFill>
                  <a:srgbClr val="FFFFFF"/>
                </a:solidFill>
                <a:latin typeface="Calibri Light"/>
                <a:cs typeface="Calibri Light"/>
              </a:rPr>
              <a:t> </a:t>
            </a:r>
            <a:r>
              <a:rPr sz="2000" spc="-150" dirty="0">
                <a:solidFill>
                  <a:srgbClr val="FFFFFF"/>
                </a:solidFill>
                <a:latin typeface="Calibri Light"/>
                <a:cs typeface="Calibri Light"/>
              </a:rPr>
              <a:t>female</a:t>
            </a:r>
            <a:r>
              <a:rPr sz="2000" spc="-270" dirty="0">
                <a:solidFill>
                  <a:srgbClr val="FFFFFF"/>
                </a:solidFill>
                <a:latin typeface="Calibri Light"/>
                <a:cs typeface="Calibri Light"/>
              </a:rPr>
              <a:t> </a:t>
            </a:r>
            <a:r>
              <a:rPr sz="2000" spc="-160" dirty="0">
                <a:solidFill>
                  <a:srgbClr val="FFFFFF"/>
                </a:solidFill>
                <a:latin typeface="Calibri Light"/>
                <a:cs typeface="Calibri Light"/>
              </a:rPr>
              <a:t>customers</a:t>
            </a:r>
            <a:r>
              <a:rPr sz="2000" spc="-245" dirty="0">
                <a:solidFill>
                  <a:srgbClr val="FFFFFF"/>
                </a:solidFill>
                <a:latin typeface="Calibri Light"/>
                <a:cs typeface="Calibri Light"/>
              </a:rPr>
              <a:t> </a:t>
            </a:r>
            <a:r>
              <a:rPr sz="2000" spc="-95" dirty="0">
                <a:solidFill>
                  <a:srgbClr val="FFFFFF"/>
                </a:solidFill>
                <a:latin typeface="Calibri Light"/>
                <a:cs typeface="Calibri Light"/>
              </a:rPr>
              <a:t>by</a:t>
            </a:r>
            <a:r>
              <a:rPr sz="2000" spc="-260" dirty="0">
                <a:solidFill>
                  <a:srgbClr val="FFFFFF"/>
                </a:solidFill>
                <a:latin typeface="Calibri Light"/>
                <a:cs typeface="Calibri Light"/>
              </a:rPr>
              <a:t> </a:t>
            </a:r>
            <a:r>
              <a:rPr sz="2000" spc="-100" dirty="0">
                <a:solidFill>
                  <a:srgbClr val="FFFFFF"/>
                </a:solidFill>
                <a:latin typeface="Calibri Light"/>
                <a:cs typeface="Calibri Light"/>
              </a:rPr>
              <a:t>contract</a:t>
            </a:r>
            <a:endParaRPr sz="2000">
              <a:latin typeface="Calibri Light"/>
              <a:cs typeface="Calibri Light"/>
            </a:endParaRPr>
          </a:p>
          <a:p>
            <a:pPr marL="240665">
              <a:lnSpc>
                <a:spcPct val="100000"/>
              </a:lnSpc>
              <a:spcBef>
                <a:spcPts val="245"/>
              </a:spcBef>
            </a:pPr>
            <a:r>
              <a:rPr sz="2000" spc="-85" dirty="0">
                <a:solidFill>
                  <a:srgbClr val="FFFFFF"/>
                </a:solidFill>
                <a:latin typeface="Calibri Light"/>
                <a:cs typeface="Calibri Light"/>
              </a:rPr>
              <a:t>in</a:t>
            </a:r>
            <a:r>
              <a:rPr sz="2000" spc="-270" dirty="0">
                <a:solidFill>
                  <a:srgbClr val="FFFFFF"/>
                </a:solidFill>
                <a:latin typeface="Calibri Light"/>
                <a:cs typeface="Calibri Light"/>
              </a:rPr>
              <a:t> </a:t>
            </a:r>
            <a:r>
              <a:rPr sz="2000" spc="-155" dirty="0">
                <a:solidFill>
                  <a:srgbClr val="FFFFFF"/>
                </a:solidFill>
                <a:latin typeface="Calibri Light"/>
                <a:cs typeface="Calibri Light"/>
              </a:rPr>
              <a:t>customer</a:t>
            </a:r>
            <a:r>
              <a:rPr sz="2000" spc="-240" dirty="0">
                <a:solidFill>
                  <a:srgbClr val="FFFFFF"/>
                </a:solidFill>
                <a:latin typeface="Calibri Light"/>
                <a:cs typeface="Calibri Light"/>
              </a:rPr>
              <a:t> </a:t>
            </a:r>
            <a:r>
              <a:rPr sz="2000" spc="-110" dirty="0">
                <a:solidFill>
                  <a:srgbClr val="FFFFFF"/>
                </a:solidFill>
                <a:latin typeface="Calibri Light"/>
                <a:cs typeface="Calibri Light"/>
              </a:rPr>
              <a:t>and</a:t>
            </a:r>
            <a:r>
              <a:rPr sz="2000" spc="-290" dirty="0">
                <a:solidFill>
                  <a:srgbClr val="FFFFFF"/>
                </a:solidFill>
                <a:latin typeface="Calibri Light"/>
                <a:cs typeface="Calibri Light"/>
              </a:rPr>
              <a:t> </a:t>
            </a:r>
            <a:r>
              <a:rPr sz="2000" spc="-140" dirty="0">
                <a:solidFill>
                  <a:srgbClr val="FFFFFF"/>
                </a:solidFill>
                <a:latin typeface="Calibri Light"/>
                <a:cs typeface="Calibri Light"/>
              </a:rPr>
              <a:t>churner</a:t>
            </a:r>
            <a:r>
              <a:rPr sz="2000" spc="-270" dirty="0">
                <a:solidFill>
                  <a:srgbClr val="FFFFFF"/>
                </a:solidFill>
                <a:latin typeface="Calibri Light"/>
                <a:cs typeface="Calibri Light"/>
              </a:rPr>
              <a:t> </a:t>
            </a:r>
            <a:r>
              <a:rPr sz="2000" spc="-10" dirty="0">
                <a:solidFill>
                  <a:srgbClr val="FFFFFF"/>
                </a:solidFill>
                <a:latin typeface="Calibri Light"/>
                <a:cs typeface="Calibri Light"/>
              </a:rPr>
              <a:t>profile?</a:t>
            </a:r>
            <a:endParaRPr sz="2000">
              <a:latin typeface="Calibri Light"/>
              <a:cs typeface="Calibri Light"/>
            </a:endParaRPr>
          </a:p>
          <a:p>
            <a:pPr marL="240665" marR="45085" indent="-228600">
              <a:lnSpc>
                <a:spcPct val="110000"/>
              </a:lnSpc>
              <a:spcBef>
                <a:spcPts val="994"/>
              </a:spcBef>
              <a:buFont typeface="Arial MT"/>
              <a:buChar char="•"/>
              <a:tabLst>
                <a:tab pos="240665" algn="l"/>
              </a:tabLst>
            </a:pPr>
            <a:r>
              <a:rPr sz="2000" spc="-135" dirty="0">
                <a:solidFill>
                  <a:srgbClr val="FFFFFF"/>
                </a:solidFill>
                <a:latin typeface="Calibri Light"/>
                <a:cs typeface="Calibri Light"/>
              </a:rPr>
              <a:t>What</a:t>
            </a:r>
            <a:r>
              <a:rPr sz="2000" spc="-265" dirty="0">
                <a:solidFill>
                  <a:srgbClr val="FFFFFF"/>
                </a:solidFill>
                <a:latin typeface="Calibri Light"/>
                <a:cs typeface="Calibri Light"/>
              </a:rPr>
              <a:t> </a:t>
            </a:r>
            <a:r>
              <a:rPr sz="2000" spc="-85" dirty="0">
                <a:solidFill>
                  <a:srgbClr val="FFFFFF"/>
                </a:solidFill>
                <a:latin typeface="Calibri Light"/>
                <a:cs typeface="Calibri Light"/>
              </a:rPr>
              <a:t>is</a:t>
            </a:r>
            <a:r>
              <a:rPr sz="2000" spc="-270" dirty="0">
                <a:solidFill>
                  <a:srgbClr val="FFFFFF"/>
                </a:solidFill>
                <a:latin typeface="Calibri Light"/>
                <a:cs typeface="Calibri Light"/>
              </a:rPr>
              <a:t> </a:t>
            </a:r>
            <a:r>
              <a:rPr sz="2000" spc="-114" dirty="0">
                <a:solidFill>
                  <a:srgbClr val="FFFFFF"/>
                </a:solidFill>
                <a:latin typeface="Calibri Light"/>
                <a:cs typeface="Calibri Light"/>
              </a:rPr>
              <a:t>the</a:t>
            </a:r>
            <a:r>
              <a:rPr sz="2000" spc="-254" dirty="0">
                <a:solidFill>
                  <a:srgbClr val="FFFFFF"/>
                </a:solidFill>
                <a:latin typeface="Calibri Light"/>
                <a:cs typeface="Calibri Light"/>
              </a:rPr>
              <a:t> </a:t>
            </a:r>
            <a:r>
              <a:rPr sz="2000" spc="-160" dirty="0">
                <a:solidFill>
                  <a:srgbClr val="FFFFFF"/>
                </a:solidFill>
                <a:latin typeface="Calibri Light"/>
                <a:cs typeface="Calibri Light"/>
              </a:rPr>
              <a:t>percentage</a:t>
            </a:r>
            <a:r>
              <a:rPr sz="2000" spc="-280" dirty="0">
                <a:solidFill>
                  <a:srgbClr val="FFFFFF"/>
                </a:solidFill>
                <a:latin typeface="Calibri Light"/>
                <a:cs typeface="Calibri Light"/>
              </a:rPr>
              <a:t> </a:t>
            </a:r>
            <a:r>
              <a:rPr sz="2000" spc="-90" dirty="0">
                <a:solidFill>
                  <a:srgbClr val="FFFFFF"/>
                </a:solidFill>
                <a:latin typeface="Calibri Light"/>
                <a:cs typeface="Calibri Light"/>
              </a:rPr>
              <a:t>of</a:t>
            </a:r>
            <a:r>
              <a:rPr sz="2000" spc="-254" dirty="0">
                <a:solidFill>
                  <a:srgbClr val="FFFFFF"/>
                </a:solidFill>
                <a:latin typeface="Calibri Light"/>
                <a:cs typeface="Calibri Light"/>
              </a:rPr>
              <a:t> </a:t>
            </a:r>
            <a:r>
              <a:rPr sz="2000" spc="-135" dirty="0">
                <a:solidFill>
                  <a:srgbClr val="FFFFFF"/>
                </a:solidFill>
                <a:latin typeface="Calibri Light"/>
                <a:cs typeface="Calibri Light"/>
              </a:rPr>
              <a:t>senior</a:t>
            </a:r>
            <a:r>
              <a:rPr sz="2000" spc="-285" dirty="0">
                <a:solidFill>
                  <a:srgbClr val="FFFFFF"/>
                </a:solidFill>
                <a:latin typeface="Calibri Light"/>
                <a:cs typeface="Calibri Light"/>
              </a:rPr>
              <a:t> </a:t>
            </a:r>
            <a:r>
              <a:rPr sz="2000" dirty="0">
                <a:solidFill>
                  <a:srgbClr val="FFFFFF"/>
                </a:solidFill>
                <a:latin typeface="Calibri Light"/>
                <a:cs typeface="Calibri Light"/>
              </a:rPr>
              <a:t>&amp;</a:t>
            </a:r>
            <a:r>
              <a:rPr sz="2000" spc="-270" dirty="0">
                <a:solidFill>
                  <a:srgbClr val="FFFFFF"/>
                </a:solidFill>
                <a:latin typeface="Calibri Light"/>
                <a:cs typeface="Calibri Light"/>
              </a:rPr>
              <a:t> </a:t>
            </a:r>
            <a:r>
              <a:rPr sz="2000" spc="-165" dirty="0">
                <a:solidFill>
                  <a:srgbClr val="FFFFFF"/>
                </a:solidFill>
                <a:latin typeface="Calibri Light"/>
                <a:cs typeface="Calibri Light"/>
              </a:rPr>
              <a:t>non-</a:t>
            </a:r>
            <a:r>
              <a:rPr sz="2000" spc="-140" dirty="0">
                <a:solidFill>
                  <a:srgbClr val="FFFFFF"/>
                </a:solidFill>
                <a:latin typeface="Calibri Light"/>
                <a:cs typeface="Calibri Light"/>
              </a:rPr>
              <a:t>senior</a:t>
            </a:r>
            <a:r>
              <a:rPr sz="2000" spc="-270" dirty="0">
                <a:solidFill>
                  <a:srgbClr val="FFFFFF"/>
                </a:solidFill>
                <a:latin typeface="Calibri Light"/>
                <a:cs typeface="Calibri Light"/>
              </a:rPr>
              <a:t> </a:t>
            </a:r>
            <a:r>
              <a:rPr sz="2000" spc="-150" dirty="0">
                <a:solidFill>
                  <a:srgbClr val="FFFFFF"/>
                </a:solidFill>
                <a:latin typeface="Calibri Light"/>
                <a:cs typeface="Calibri Light"/>
              </a:rPr>
              <a:t>citizens</a:t>
            </a:r>
            <a:r>
              <a:rPr sz="2000" spc="-260" dirty="0">
                <a:solidFill>
                  <a:srgbClr val="FFFFFF"/>
                </a:solidFill>
                <a:latin typeface="Calibri Light"/>
                <a:cs typeface="Calibri Light"/>
              </a:rPr>
              <a:t> </a:t>
            </a:r>
            <a:r>
              <a:rPr sz="2000" spc="-130" dirty="0">
                <a:solidFill>
                  <a:srgbClr val="FFFFFF"/>
                </a:solidFill>
                <a:latin typeface="Calibri Light"/>
                <a:cs typeface="Calibri Light"/>
              </a:rPr>
              <a:t>for</a:t>
            </a:r>
            <a:r>
              <a:rPr sz="2000" spc="-265" dirty="0">
                <a:solidFill>
                  <a:srgbClr val="FFFFFF"/>
                </a:solidFill>
                <a:latin typeface="Calibri Light"/>
                <a:cs typeface="Calibri Light"/>
              </a:rPr>
              <a:t> </a:t>
            </a:r>
            <a:r>
              <a:rPr sz="2000" spc="-85" dirty="0">
                <a:solidFill>
                  <a:srgbClr val="FFFFFF"/>
                </a:solidFill>
                <a:latin typeface="Calibri Light"/>
                <a:cs typeface="Calibri Light"/>
              </a:rPr>
              <a:t>entire </a:t>
            </a:r>
            <a:r>
              <a:rPr sz="2000" spc="-160" dirty="0">
                <a:solidFill>
                  <a:srgbClr val="FFFFFF"/>
                </a:solidFill>
                <a:latin typeface="Calibri Light"/>
                <a:cs typeface="Calibri Light"/>
              </a:rPr>
              <a:t>customers</a:t>
            </a:r>
            <a:r>
              <a:rPr sz="2000" spc="-240" dirty="0">
                <a:solidFill>
                  <a:srgbClr val="FFFFFF"/>
                </a:solidFill>
                <a:latin typeface="Calibri Light"/>
                <a:cs typeface="Calibri Light"/>
              </a:rPr>
              <a:t> </a:t>
            </a:r>
            <a:r>
              <a:rPr sz="2000" spc="-110" dirty="0">
                <a:solidFill>
                  <a:srgbClr val="FFFFFF"/>
                </a:solidFill>
                <a:latin typeface="Calibri Light"/>
                <a:cs typeface="Calibri Light"/>
              </a:rPr>
              <a:t>and</a:t>
            </a:r>
            <a:r>
              <a:rPr sz="2000" spc="-280" dirty="0">
                <a:solidFill>
                  <a:srgbClr val="FFFFFF"/>
                </a:solidFill>
                <a:latin typeface="Calibri Light"/>
                <a:cs typeface="Calibri Light"/>
              </a:rPr>
              <a:t> </a:t>
            </a:r>
            <a:r>
              <a:rPr sz="2000" spc="-140" dirty="0">
                <a:solidFill>
                  <a:srgbClr val="FFFFFF"/>
                </a:solidFill>
                <a:latin typeface="Calibri Light"/>
                <a:cs typeface="Calibri Light"/>
              </a:rPr>
              <a:t>churner</a:t>
            </a:r>
            <a:r>
              <a:rPr sz="2000" spc="-265" dirty="0">
                <a:solidFill>
                  <a:srgbClr val="FFFFFF"/>
                </a:solidFill>
                <a:latin typeface="Calibri Light"/>
                <a:cs typeface="Calibri Light"/>
              </a:rPr>
              <a:t> </a:t>
            </a:r>
            <a:r>
              <a:rPr sz="2000" spc="-30" dirty="0">
                <a:solidFill>
                  <a:srgbClr val="FFFFFF"/>
                </a:solidFill>
                <a:latin typeface="Calibri Light"/>
                <a:cs typeface="Calibri Light"/>
              </a:rPr>
              <a:t>profiles?</a:t>
            </a:r>
            <a:endParaRPr sz="2000">
              <a:latin typeface="Calibri Light"/>
              <a:cs typeface="Calibri Light"/>
            </a:endParaRPr>
          </a:p>
          <a:p>
            <a:pPr marL="240665" indent="-227965">
              <a:lnSpc>
                <a:spcPct val="100000"/>
              </a:lnSpc>
              <a:spcBef>
                <a:spcPts val="1250"/>
              </a:spcBef>
              <a:buFont typeface="Arial MT"/>
              <a:buChar char="•"/>
              <a:tabLst>
                <a:tab pos="240665" algn="l"/>
              </a:tabLst>
            </a:pPr>
            <a:r>
              <a:rPr sz="2000" spc="-135" dirty="0">
                <a:solidFill>
                  <a:srgbClr val="FFFFFF"/>
                </a:solidFill>
                <a:latin typeface="Calibri Light"/>
                <a:cs typeface="Calibri Light"/>
              </a:rPr>
              <a:t>What</a:t>
            </a:r>
            <a:r>
              <a:rPr sz="2000" spc="-260" dirty="0">
                <a:solidFill>
                  <a:srgbClr val="FFFFFF"/>
                </a:solidFill>
                <a:latin typeface="Calibri Light"/>
                <a:cs typeface="Calibri Light"/>
              </a:rPr>
              <a:t> </a:t>
            </a:r>
            <a:r>
              <a:rPr sz="2000" spc="-85" dirty="0">
                <a:solidFill>
                  <a:srgbClr val="FFFFFF"/>
                </a:solidFill>
                <a:latin typeface="Calibri Light"/>
                <a:cs typeface="Calibri Light"/>
              </a:rPr>
              <a:t>is</a:t>
            </a:r>
            <a:r>
              <a:rPr sz="2000" spc="-265" dirty="0">
                <a:solidFill>
                  <a:srgbClr val="FFFFFF"/>
                </a:solidFill>
                <a:latin typeface="Calibri Light"/>
                <a:cs typeface="Calibri Light"/>
              </a:rPr>
              <a:t> </a:t>
            </a:r>
            <a:r>
              <a:rPr sz="2000" spc="-140" dirty="0">
                <a:solidFill>
                  <a:srgbClr val="FFFFFF"/>
                </a:solidFill>
                <a:latin typeface="Calibri Light"/>
                <a:cs typeface="Calibri Light"/>
              </a:rPr>
              <a:t>gender</a:t>
            </a:r>
            <a:r>
              <a:rPr sz="2000" spc="-270" dirty="0">
                <a:solidFill>
                  <a:srgbClr val="FFFFFF"/>
                </a:solidFill>
                <a:latin typeface="Calibri Light"/>
                <a:cs typeface="Calibri Light"/>
              </a:rPr>
              <a:t> </a:t>
            </a:r>
            <a:r>
              <a:rPr sz="2000" spc="-155" dirty="0">
                <a:solidFill>
                  <a:srgbClr val="FFFFFF"/>
                </a:solidFill>
                <a:latin typeface="Calibri Light"/>
                <a:cs typeface="Calibri Light"/>
              </a:rPr>
              <a:t>distribution</a:t>
            </a:r>
            <a:r>
              <a:rPr sz="2000" spc="-254" dirty="0">
                <a:solidFill>
                  <a:srgbClr val="FFFFFF"/>
                </a:solidFill>
                <a:latin typeface="Calibri Light"/>
                <a:cs typeface="Calibri Light"/>
              </a:rPr>
              <a:t> </a:t>
            </a:r>
            <a:r>
              <a:rPr sz="2000" spc="-110" dirty="0">
                <a:solidFill>
                  <a:srgbClr val="FFFFFF"/>
                </a:solidFill>
                <a:latin typeface="Calibri Light"/>
                <a:cs typeface="Calibri Light"/>
              </a:rPr>
              <a:t>and</a:t>
            </a:r>
            <a:r>
              <a:rPr sz="2000" spc="-285" dirty="0">
                <a:solidFill>
                  <a:srgbClr val="FFFFFF"/>
                </a:solidFill>
                <a:latin typeface="Calibri Light"/>
                <a:cs typeface="Calibri Light"/>
              </a:rPr>
              <a:t> </a:t>
            </a:r>
            <a:r>
              <a:rPr sz="2000" spc="-114" dirty="0">
                <a:solidFill>
                  <a:srgbClr val="FFFFFF"/>
                </a:solidFill>
                <a:latin typeface="Calibri Light"/>
                <a:cs typeface="Calibri Light"/>
              </a:rPr>
              <a:t>how</a:t>
            </a:r>
            <a:r>
              <a:rPr sz="2000" spc="-254" dirty="0">
                <a:solidFill>
                  <a:srgbClr val="FFFFFF"/>
                </a:solidFill>
                <a:latin typeface="Calibri Light"/>
                <a:cs typeface="Calibri Light"/>
              </a:rPr>
              <a:t> </a:t>
            </a:r>
            <a:r>
              <a:rPr sz="2000" spc="-85" dirty="0">
                <a:solidFill>
                  <a:srgbClr val="FFFFFF"/>
                </a:solidFill>
                <a:latin typeface="Calibri Light"/>
                <a:cs typeface="Calibri Light"/>
              </a:rPr>
              <a:t>is</a:t>
            </a:r>
            <a:r>
              <a:rPr sz="2000" spc="-270" dirty="0">
                <a:solidFill>
                  <a:srgbClr val="FFFFFF"/>
                </a:solidFill>
                <a:latin typeface="Calibri Light"/>
                <a:cs typeface="Calibri Light"/>
              </a:rPr>
              <a:t> </a:t>
            </a:r>
            <a:r>
              <a:rPr sz="2000" spc="-140" dirty="0">
                <a:solidFill>
                  <a:srgbClr val="FFFFFF"/>
                </a:solidFill>
                <a:latin typeface="Calibri Light"/>
                <a:cs typeface="Calibri Light"/>
              </a:rPr>
              <a:t>gender</a:t>
            </a:r>
            <a:r>
              <a:rPr sz="2000" spc="-285" dirty="0">
                <a:solidFill>
                  <a:srgbClr val="FFFFFF"/>
                </a:solidFill>
                <a:latin typeface="Calibri Light"/>
                <a:cs typeface="Calibri Light"/>
              </a:rPr>
              <a:t> </a:t>
            </a:r>
            <a:r>
              <a:rPr sz="2000" spc="-150" dirty="0">
                <a:solidFill>
                  <a:srgbClr val="FFFFFF"/>
                </a:solidFill>
                <a:latin typeface="Calibri Light"/>
                <a:cs typeface="Calibri Light"/>
              </a:rPr>
              <a:t>related</a:t>
            </a:r>
            <a:r>
              <a:rPr sz="2000" spc="-270" dirty="0">
                <a:solidFill>
                  <a:srgbClr val="FFFFFF"/>
                </a:solidFill>
                <a:latin typeface="Calibri Light"/>
                <a:cs typeface="Calibri Light"/>
              </a:rPr>
              <a:t> </a:t>
            </a:r>
            <a:r>
              <a:rPr sz="2000" spc="-100" dirty="0">
                <a:solidFill>
                  <a:srgbClr val="FFFFFF"/>
                </a:solidFill>
                <a:latin typeface="Calibri Light"/>
                <a:cs typeface="Calibri Light"/>
              </a:rPr>
              <a:t>to</a:t>
            </a:r>
            <a:r>
              <a:rPr sz="2000" spc="-260" dirty="0">
                <a:solidFill>
                  <a:srgbClr val="FFFFFF"/>
                </a:solidFill>
                <a:latin typeface="Calibri Light"/>
                <a:cs typeface="Calibri Light"/>
              </a:rPr>
              <a:t> </a:t>
            </a:r>
            <a:r>
              <a:rPr sz="2000" spc="-55" dirty="0">
                <a:solidFill>
                  <a:srgbClr val="FFFFFF"/>
                </a:solidFill>
                <a:latin typeface="Calibri Light"/>
                <a:cs typeface="Calibri Light"/>
              </a:rPr>
              <a:t>churn?</a:t>
            </a:r>
            <a:endParaRPr sz="2000">
              <a:latin typeface="Calibri Light"/>
              <a:cs typeface="Calibri Light"/>
            </a:endParaRPr>
          </a:p>
          <a:p>
            <a:pPr marL="240665" marR="765810" indent="-228600">
              <a:lnSpc>
                <a:spcPct val="110000"/>
              </a:lnSpc>
              <a:spcBef>
                <a:spcPts val="994"/>
              </a:spcBef>
              <a:buFont typeface="Arial MT"/>
              <a:buChar char="•"/>
              <a:tabLst>
                <a:tab pos="240665" algn="l"/>
              </a:tabLst>
            </a:pPr>
            <a:r>
              <a:rPr sz="2000" spc="-135" dirty="0">
                <a:solidFill>
                  <a:srgbClr val="FFFFFF"/>
                </a:solidFill>
                <a:latin typeface="Calibri Light"/>
                <a:cs typeface="Calibri Light"/>
              </a:rPr>
              <a:t>What</a:t>
            </a:r>
            <a:r>
              <a:rPr sz="2000" spc="-265" dirty="0">
                <a:solidFill>
                  <a:srgbClr val="FFFFFF"/>
                </a:solidFill>
                <a:latin typeface="Calibri Light"/>
                <a:cs typeface="Calibri Light"/>
              </a:rPr>
              <a:t> </a:t>
            </a:r>
            <a:r>
              <a:rPr sz="2000" spc="-85" dirty="0">
                <a:solidFill>
                  <a:srgbClr val="FFFFFF"/>
                </a:solidFill>
                <a:latin typeface="Calibri Light"/>
                <a:cs typeface="Calibri Light"/>
              </a:rPr>
              <a:t>is</a:t>
            </a:r>
            <a:r>
              <a:rPr sz="2000" spc="-275" dirty="0">
                <a:solidFill>
                  <a:srgbClr val="FFFFFF"/>
                </a:solidFill>
                <a:latin typeface="Calibri Light"/>
                <a:cs typeface="Calibri Light"/>
              </a:rPr>
              <a:t> </a:t>
            </a:r>
            <a:r>
              <a:rPr sz="2000" spc="-114" dirty="0">
                <a:solidFill>
                  <a:srgbClr val="FFFFFF"/>
                </a:solidFill>
                <a:latin typeface="Calibri Light"/>
                <a:cs typeface="Calibri Light"/>
              </a:rPr>
              <a:t>the</a:t>
            </a:r>
            <a:r>
              <a:rPr sz="2000" spc="-254" dirty="0">
                <a:solidFill>
                  <a:srgbClr val="FFFFFF"/>
                </a:solidFill>
                <a:latin typeface="Calibri Light"/>
                <a:cs typeface="Calibri Light"/>
              </a:rPr>
              <a:t> </a:t>
            </a:r>
            <a:r>
              <a:rPr sz="2000" spc="-160" dirty="0">
                <a:solidFill>
                  <a:srgbClr val="FFFFFF"/>
                </a:solidFill>
                <a:latin typeface="Calibri Light"/>
                <a:cs typeface="Calibri Light"/>
              </a:rPr>
              <a:t>percentage</a:t>
            </a:r>
            <a:r>
              <a:rPr sz="2000" spc="-285" dirty="0">
                <a:solidFill>
                  <a:srgbClr val="FFFFFF"/>
                </a:solidFill>
                <a:latin typeface="Calibri Light"/>
                <a:cs typeface="Calibri Light"/>
              </a:rPr>
              <a:t> </a:t>
            </a:r>
            <a:r>
              <a:rPr sz="2000" spc="-90" dirty="0">
                <a:solidFill>
                  <a:srgbClr val="FFFFFF"/>
                </a:solidFill>
                <a:latin typeface="Calibri Light"/>
                <a:cs typeface="Calibri Light"/>
              </a:rPr>
              <a:t>of</a:t>
            </a:r>
            <a:r>
              <a:rPr sz="2000" spc="-254" dirty="0">
                <a:solidFill>
                  <a:srgbClr val="FFFFFF"/>
                </a:solidFill>
                <a:latin typeface="Calibri Light"/>
                <a:cs typeface="Calibri Light"/>
              </a:rPr>
              <a:t> </a:t>
            </a:r>
            <a:r>
              <a:rPr sz="2000" spc="-160" dirty="0">
                <a:solidFill>
                  <a:srgbClr val="FFFFFF"/>
                </a:solidFill>
                <a:latin typeface="Calibri Light"/>
                <a:cs typeface="Calibri Light"/>
              </a:rPr>
              <a:t>contracts</a:t>
            </a:r>
            <a:r>
              <a:rPr sz="2000" spc="-245" dirty="0">
                <a:solidFill>
                  <a:srgbClr val="FFFFFF"/>
                </a:solidFill>
                <a:latin typeface="Calibri Light"/>
                <a:cs typeface="Calibri Light"/>
              </a:rPr>
              <a:t> </a:t>
            </a:r>
            <a:r>
              <a:rPr sz="2000" spc="-95" dirty="0">
                <a:solidFill>
                  <a:srgbClr val="FFFFFF"/>
                </a:solidFill>
                <a:latin typeface="Calibri Light"/>
                <a:cs typeface="Calibri Light"/>
              </a:rPr>
              <a:t>by</a:t>
            </a:r>
            <a:r>
              <a:rPr sz="2000" spc="-270" dirty="0">
                <a:solidFill>
                  <a:srgbClr val="FFFFFF"/>
                </a:solidFill>
                <a:latin typeface="Calibri Light"/>
                <a:cs typeface="Calibri Light"/>
              </a:rPr>
              <a:t> </a:t>
            </a:r>
            <a:r>
              <a:rPr sz="2000" spc="-140" dirty="0">
                <a:solidFill>
                  <a:srgbClr val="FFFFFF"/>
                </a:solidFill>
                <a:latin typeface="Calibri Light"/>
                <a:cs typeface="Calibri Light"/>
              </a:rPr>
              <a:t>gender</a:t>
            </a:r>
            <a:r>
              <a:rPr sz="2000" spc="-265" dirty="0">
                <a:solidFill>
                  <a:srgbClr val="FFFFFF"/>
                </a:solidFill>
                <a:latin typeface="Calibri Light"/>
                <a:cs typeface="Calibri Light"/>
              </a:rPr>
              <a:t> </a:t>
            </a:r>
            <a:r>
              <a:rPr sz="2000" spc="-85" dirty="0">
                <a:solidFill>
                  <a:srgbClr val="FFFFFF"/>
                </a:solidFill>
                <a:latin typeface="Calibri Light"/>
                <a:cs typeface="Calibri Light"/>
              </a:rPr>
              <a:t>in</a:t>
            </a:r>
            <a:r>
              <a:rPr sz="2000" spc="-270" dirty="0">
                <a:solidFill>
                  <a:srgbClr val="FFFFFF"/>
                </a:solidFill>
                <a:latin typeface="Calibri Light"/>
                <a:cs typeface="Calibri Light"/>
              </a:rPr>
              <a:t> </a:t>
            </a:r>
            <a:r>
              <a:rPr sz="2000" spc="-100" dirty="0">
                <a:solidFill>
                  <a:srgbClr val="FFFFFF"/>
                </a:solidFill>
                <a:latin typeface="Calibri Light"/>
                <a:cs typeface="Calibri Light"/>
              </a:rPr>
              <a:t>entire </a:t>
            </a:r>
            <a:r>
              <a:rPr sz="2000" spc="-160" dirty="0">
                <a:solidFill>
                  <a:srgbClr val="FFFFFF"/>
                </a:solidFill>
                <a:latin typeface="Calibri Light"/>
                <a:cs typeface="Calibri Light"/>
              </a:rPr>
              <a:t>customers</a:t>
            </a:r>
            <a:r>
              <a:rPr sz="2000" spc="-240" dirty="0">
                <a:solidFill>
                  <a:srgbClr val="FFFFFF"/>
                </a:solidFill>
                <a:latin typeface="Calibri Light"/>
                <a:cs typeface="Calibri Light"/>
              </a:rPr>
              <a:t> </a:t>
            </a:r>
            <a:r>
              <a:rPr sz="2000" spc="-110" dirty="0">
                <a:solidFill>
                  <a:srgbClr val="FFFFFF"/>
                </a:solidFill>
                <a:latin typeface="Calibri Light"/>
                <a:cs typeface="Calibri Light"/>
              </a:rPr>
              <a:t>and</a:t>
            </a:r>
            <a:r>
              <a:rPr sz="2000" spc="-280" dirty="0">
                <a:solidFill>
                  <a:srgbClr val="FFFFFF"/>
                </a:solidFill>
                <a:latin typeface="Calibri Light"/>
                <a:cs typeface="Calibri Light"/>
              </a:rPr>
              <a:t> </a:t>
            </a:r>
            <a:r>
              <a:rPr sz="2000" spc="-140" dirty="0">
                <a:solidFill>
                  <a:srgbClr val="FFFFFF"/>
                </a:solidFill>
                <a:latin typeface="Calibri Light"/>
                <a:cs typeface="Calibri Light"/>
              </a:rPr>
              <a:t>churner</a:t>
            </a:r>
            <a:r>
              <a:rPr sz="2000" spc="-265" dirty="0">
                <a:solidFill>
                  <a:srgbClr val="FFFFFF"/>
                </a:solidFill>
                <a:latin typeface="Calibri Light"/>
                <a:cs typeface="Calibri Light"/>
              </a:rPr>
              <a:t> </a:t>
            </a:r>
            <a:r>
              <a:rPr sz="2000" spc="-30" dirty="0">
                <a:solidFill>
                  <a:srgbClr val="FFFFFF"/>
                </a:solidFill>
                <a:latin typeface="Calibri Light"/>
                <a:cs typeface="Calibri Light"/>
              </a:rPr>
              <a:t>profiles?</a:t>
            </a:r>
            <a:endParaRPr sz="2000">
              <a:latin typeface="Calibri Light"/>
              <a:cs typeface="Calibri Light"/>
            </a:endParaRPr>
          </a:p>
          <a:p>
            <a:pPr marL="240665" indent="-227965">
              <a:lnSpc>
                <a:spcPct val="100000"/>
              </a:lnSpc>
              <a:spcBef>
                <a:spcPts val="1240"/>
              </a:spcBef>
              <a:buFont typeface="Arial MT"/>
              <a:buChar char="•"/>
              <a:tabLst>
                <a:tab pos="240665" algn="l"/>
              </a:tabLst>
            </a:pPr>
            <a:r>
              <a:rPr sz="2000" spc="-135" dirty="0">
                <a:solidFill>
                  <a:srgbClr val="FFFFFF"/>
                </a:solidFill>
                <a:latin typeface="Calibri Light"/>
                <a:cs typeface="Calibri Light"/>
              </a:rPr>
              <a:t>What</a:t>
            </a:r>
            <a:r>
              <a:rPr sz="2000" spc="-260" dirty="0">
                <a:solidFill>
                  <a:srgbClr val="FFFFFF"/>
                </a:solidFill>
                <a:latin typeface="Calibri Light"/>
                <a:cs typeface="Calibri Light"/>
              </a:rPr>
              <a:t> </a:t>
            </a:r>
            <a:r>
              <a:rPr sz="2000" spc="-85" dirty="0">
                <a:solidFill>
                  <a:srgbClr val="FFFFFF"/>
                </a:solidFill>
                <a:latin typeface="Calibri Light"/>
                <a:cs typeface="Calibri Light"/>
              </a:rPr>
              <a:t>is</a:t>
            </a:r>
            <a:r>
              <a:rPr sz="2000" spc="-270" dirty="0">
                <a:solidFill>
                  <a:srgbClr val="FFFFFF"/>
                </a:solidFill>
                <a:latin typeface="Calibri Light"/>
                <a:cs typeface="Calibri Light"/>
              </a:rPr>
              <a:t> </a:t>
            </a:r>
            <a:r>
              <a:rPr sz="2000" spc="-114" dirty="0">
                <a:solidFill>
                  <a:srgbClr val="FFFFFF"/>
                </a:solidFill>
                <a:latin typeface="Calibri Light"/>
                <a:cs typeface="Calibri Light"/>
              </a:rPr>
              <a:t>the</a:t>
            </a:r>
            <a:r>
              <a:rPr sz="2000" spc="-254" dirty="0">
                <a:solidFill>
                  <a:srgbClr val="FFFFFF"/>
                </a:solidFill>
                <a:latin typeface="Calibri Light"/>
                <a:cs typeface="Calibri Light"/>
              </a:rPr>
              <a:t> </a:t>
            </a:r>
            <a:r>
              <a:rPr sz="2000" spc="-155" dirty="0">
                <a:solidFill>
                  <a:srgbClr val="FFFFFF"/>
                </a:solidFill>
                <a:latin typeface="Calibri Light"/>
                <a:cs typeface="Calibri Light"/>
              </a:rPr>
              <a:t>distribution</a:t>
            </a:r>
            <a:r>
              <a:rPr sz="2000" spc="-265" dirty="0">
                <a:solidFill>
                  <a:srgbClr val="FFFFFF"/>
                </a:solidFill>
                <a:latin typeface="Calibri Light"/>
                <a:cs typeface="Calibri Light"/>
              </a:rPr>
              <a:t> </a:t>
            </a:r>
            <a:r>
              <a:rPr sz="2000" spc="-90" dirty="0">
                <a:solidFill>
                  <a:srgbClr val="FFFFFF"/>
                </a:solidFill>
                <a:latin typeface="Calibri Light"/>
                <a:cs typeface="Calibri Light"/>
              </a:rPr>
              <a:t>of</a:t>
            </a:r>
            <a:r>
              <a:rPr sz="2000" spc="-250" dirty="0">
                <a:solidFill>
                  <a:srgbClr val="FFFFFF"/>
                </a:solidFill>
                <a:latin typeface="Calibri Light"/>
                <a:cs typeface="Calibri Light"/>
              </a:rPr>
              <a:t> </a:t>
            </a:r>
            <a:r>
              <a:rPr sz="2000" spc="-114" dirty="0">
                <a:solidFill>
                  <a:srgbClr val="FFFFFF"/>
                </a:solidFill>
                <a:latin typeface="Calibri Light"/>
                <a:cs typeface="Calibri Light"/>
              </a:rPr>
              <a:t>the</a:t>
            </a:r>
            <a:r>
              <a:rPr sz="2000" spc="-265" dirty="0">
                <a:solidFill>
                  <a:srgbClr val="FFFFFF"/>
                </a:solidFill>
                <a:latin typeface="Calibri Light"/>
                <a:cs typeface="Calibri Light"/>
              </a:rPr>
              <a:t> </a:t>
            </a:r>
            <a:r>
              <a:rPr sz="2000" spc="-160" dirty="0">
                <a:solidFill>
                  <a:srgbClr val="FFFFFF"/>
                </a:solidFill>
                <a:latin typeface="Calibri Light"/>
                <a:cs typeface="Calibri Light"/>
              </a:rPr>
              <a:t>contract</a:t>
            </a:r>
            <a:r>
              <a:rPr sz="2000" spc="-240" dirty="0">
                <a:solidFill>
                  <a:srgbClr val="FFFFFF"/>
                </a:solidFill>
                <a:latin typeface="Calibri Light"/>
                <a:cs typeface="Calibri Light"/>
              </a:rPr>
              <a:t> </a:t>
            </a:r>
            <a:r>
              <a:rPr sz="2000" spc="-95" dirty="0">
                <a:solidFill>
                  <a:srgbClr val="FFFFFF"/>
                </a:solidFill>
                <a:latin typeface="Calibri Light"/>
                <a:cs typeface="Calibri Light"/>
              </a:rPr>
              <a:t>by</a:t>
            </a:r>
            <a:r>
              <a:rPr sz="2000" spc="-250" dirty="0">
                <a:solidFill>
                  <a:srgbClr val="FFFFFF"/>
                </a:solidFill>
                <a:latin typeface="Calibri Light"/>
                <a:cs typeface="Calibri Light"/>
              </a:rPr>
              <a:t> </a:t>
            </a:r>
            <a:r>
              <a:rPr sz="2000" spc="-150" dirty="0">
                <a:solidFill>
                  <a:srgbClr val="FFFFFF"/>
                </a:solidFill>
                <a:latin typeface="Calibri Light"/>
                <a:cs typeface="Calibri Light"/>
              </a:rPr>
              <a:t>monthly</a:t>
            </a:r>
            <a:r>
              <a:rPr sz="2000" spc="-235" dirty="0">
                <a:solidFill>
                  <a:srgbClr val="FFFFFF"/>
                </a:solidFill>
                <a:latin typeface="Calibri Light"/>
                <a:cs typeface="Calibri Light"/>
              </a:rPr>
              <a:t> </a:t>
            </a:r>
            <a:r>
              <a:rPr sz="2000" spc="-150" dirty="0">
                <a:solidFill>
                  <a:srgbClr val="FFFFFF"/>
                </a:solidFill>
                <a:latin typeface="Calibri Light"/>
                <a:cs typeface="Calibri Light"/>
              </a:rPr>
              <a:t>charges</a:t>
            </a:r>
            <a:r>
              <a:rPr sz="2000" spc="-270" dirty="0">
                <a:solidFill>
                  <a:srgbClr val="FFFFFF"/>
                </a:solidFill>
                <a:latin typeface="Calibri Light"/>
                <a:cs typeface="Calibri Light"/>
              </a:rPr>
              <a:t> </a:t>
            </a:r>
            <a:r>
              <a:rPr sz="2000" spc="-25" dirty="0">
                <a:solidFill>
                  <a:srgbClr val="FFFFFF"/>
                </a:solidFill>
                <a:latin typeface="Calibri Light"/>
                <a:cs typeface="Calibri Light"/>
              </a:rPr>
              <a:t>and</a:t>
            </a:r>
            <a:endParaRPr sz="2000">
              <a:latin typeface="Calibri Light"/>
              <a:cs typeface="Calibri Light"/>
            </a:endParaRPr>
          </a:p>
          <a:p>
            <a:pPr marL="240665">
              <a:lnSpc>
                <a:spcPct val="100000"/>
              </a:lnSpc>
              <a:spcBef>
                <a:spcPts val="240"/>
              </a:spcBef>
            </a:pPr>
            <a:r>
              <a:rPr sz="2000" spc="-145" dirty="0">
                <a:solidFill>
                  <a:srgbClr val="FFFFFF"/>
                </a:solidFill>
                <a:latin typeface="Calibri Light"/>
                <a:cs typeface="Calibri Light"/>
              </a:rPr>
              <a:t>total</a:t>
            </a:r>
            <a:r>
              <a:rPr sz="2000" spc="-254" dirty="0">
                <a:solidFill>
                  <a:srgbClr val="FFFFFF"/>
                </a:solidFill>
                <a:latin typeface="Calibri Light"/>
                <a:cs typeface="Calibri Light"/>
              </a:rPr>
              <a:t> </a:t>
            </a:r>
            <a:r>
              <a:rPr sz="2000" spc="-25" dirty="0">
                <a:solidFill>
                  <a:srgbClr val="FFFFFF"/>
                </a:solidFill>
                <a:latin typeface="Calibri Light"/>
                <a:cs typeface="Calibri Light"/>
              </a:rPr>
              <a:t>charges?</a:t>
            </a:r>
            <a:endParaRPr sz="2000">
              <a:latin typeface="Calibri Light"/>
              <a:cs typeface="Calibri Light"/>
            </a:endParaRPr>
          </a:p>
          <a:p>
            <a:pPr marL="240665" marR="152400" indent="-228600">
              <a:lnSpc>
                <a:spcPct val="110000"/>
              </a:lnSpc>
              <a:spcBef>
                <a:spcPts val="1010"/>
              </a:spcBef>
              <a:buFont typeface="Arial MT"/>
              <a:buChar char="•"/>
              <a:tabLst>
                <a:tab pos="240665" algn="l"/>
              </a:tabLst>
            </a:pPr>
            <a:r>
              <a:rPr sz="2000" spc="-135" dirty="0">
                <a:solidFill>
                  <a:srgbClr val="FFFFFF"/>
                </a:solidFill>
                <a:latin typeface="Calibri Light"/>
                <a:cs typeface="Calibri Light"/>
              </a:rPr>
              <a:t>What</a:t>
            </a:r>
            <a:r>
              <a:rPr sz="2000" spc="-265" dirty="0">
                <a:solidFill>
                  <a:srgbClr val="FFFFFF"/>
                </a:solidFill>
                <a:latin typeface="Calibri Light"/>
                <a:cs typeface="Calibri Light"/>
              </a:rPr>
              <a:t> </a:t>
            </a:r>
            <a:r>
              <a:rPr sz="2000" spc="-85" dirty="0">
                <a:solidFill>
                  <a:srgbClr val="FFFFFF"/>
                </a:solidFill>
                <a:latin typeface="Calibri Light"/>
                <a:cs typeface="Calibri Light"/>
              </a:rPr>
              <a:t>is</a:t>
            </a:r>
            <a:r>
              <a:rPr sz="2000" spc="-270" dirty="0">
                <a:solidFill>
                  <a:srgbClr val="FFFFFF"/>
                </a:solidFill>
                <a:latin typeface="Calibri Light"/>
                <a:cs typeface="Calibri Light"/>
              </a:rPr>
              <a:t> </a:t>
            </a:r>
            <a:r>
              <a:rPr sz="2000" spc="-114" dirty="0">
                <a:solidFill>
                  <a:srgbClr val="FFFFFF"/>
                </a:solidFill>
                <a:latin typeface="Calibri Light"/>
                <a:cs typeface="Calibri Light"/>
              </a:rPr>
              <a:t>the</a:t>
            </a:r>
            <a:r>
              <a:rPr sz="2000" spc="-254" dirty="0">
                <a:solidFill>
                  <a:srgbClr val="FFFFFF"/>
                </a:solidFill>
                <a:latin typeface="Calibri Light"/>
                <a:cs typeface="Calibri Light"/>
              </a:rPr>
              <a:t> </a:t>
            </a:r>
            <a:r>
              <a:rPr sz="2000" spc="-155" dirty="0">
                <a:solidFill>
                  <a:srgbClr val="FFFFFF"/>
                </a:solidFill>
                <a:latin typeface="Calibri Light"/>
                <a:cs typeface="Calibri Light"/>
              </a:rPr>
              <a:t>distribution</a:t>
            </a:r>
            <a:r>
              <a:rPr sz="2000" spc="-265" dirty="0">
                <a:solidFill>
                  <a:srgbClr val="FFFFFF"/>
                </a:solidFill>
                <a:latin typeface="Calibri Light"/>
                <a:cs typeface="Calibri Light"/>
              </a:rPr>
              <a:t> </a:t>
            </a:r>
            <a:r>
              <a:rPr sz="2000" spc="-90" dirty="0">
                <a:solidFill>
                  <a:srgbClr val="FFFFFF"/>
                </a:solidFill>
                <a:latin typeface="Calibri Light"/>
                <a:cs typeface="Calibri Light"/>
              </a:rPr>
              <a:t>of</a:t>
            </a:r>
            <a:r>
              <a:rPr sz="2000" spc="-254" dirty="0">
                <a:solidFill>
                  <a:srgbClr val="FFFFFF"/>
                </a:solidFill>
                <a:latin typeface="Calibri Light"/>
                <a:cs typeface="Calibri Light"/>
              </a:rPr>
              <a:t> </a:t>
            </a:r>
            <a:r>
              <a:rPr sz="2000" spc="-145" dirty="0">
                <a:solidFill>
                  <a:srgbClr val="FFFFFF"/>
                </a:solidFill>
                <a:latin typeface="Calibri Light"/>
                <a:cs typeface="Calibri Light"/>
              </a:rPr>
              <a:t>tenure</a:t>
            </a:r>
            <a:r>
              <a:rPr sz="2000" spc="-265" dirty="0">
                <a:solidFill>
                  <a:srgbClr val="FFFFFF"/>
                </a:solidFill>
                <a:latin typeface="Calibri Light"/>
                <a:cs typeface="Calibri Light"/>
              </a:rPr>
              <a:t> </a:t>
            </a:r>
            <a:r>
              <a:rPr sz="2000" spc="-125" dirty="0">
                <a:solidFill>
                  <a:srgbClr val="FFFFFF"/>
                </a:solidFill>
                <a:latin typeface="Calibri Light"/>
                <a:cs typeface="Calibri Light"/>
              </a:rPr>
              <a:t>bins</a:t>
            </a:r>
            <a:r>
              <a:rPr sz="2000" spc="-275" dirty="0">
                <a:solidFill>
                  <a:srgbClr val="FFFFFF"/>
                </a:solidFill>
                <a:latin typeface="Calibri Light"/>
                <a:cs typeface="Calibri Light"/>
              </a:rPr>
              <a:t> </a:t>
            </a:r>
            <a:r>
              <a:rPr sz="2000" spc="-95" dirty="0">
                <a:solidFill>
                  <a:srgbClr val="FFFFFF"/>
                </a:solidFill>
                <a:latin typeface="Calibri Light"/>
                <a:cs typeface="Calibri Light"/>
              </a:rPr>
              <a:t>by</a:t>
            </a:r>
            <a:r>
              <a:rPr sz="2000" spc="-265" dirty="0">
                <a:solidFill>
                  <a:srgbClr val="FFFFFF"/>
                </a:solidFill>
                <a:latin typeface="Calibri Light"/>
                <a:cs typeface="Calibri Light"/>
              </a:rPr>
              <a:t> </a:t>
            </a:r>
            <a:r>
              <a:rPr sz="2000" spc="-150" dirty="0">
                <a:solidFill>
                  <a:srgbClr val="FFFFFF"/>
                </a:solidFill>
                <a:latin typeface="Calibri Light"/>
                <a:cs typeface="Calibri Light"/>
              </a:rPr>
              <a:t>monthly</a:t>
            </a:r>
            <a:r>
              <a:rPr sz="2000" spc="-225" dirty="0">
                <a:solidFill>
                  <a:srgbClr val="FFFFFF"/>
                </a:solidFill>
                <a:latin typeface="Calibri Light"/>
                <a:cs typeface="Calibri Light"/>
              </a:rPr>
              <a:t> </a:t>
            </a:r>
            <a:r>
              <a:rPr sz="2000" spc="-150" dirty="0">
                <a:solidFill>
                  <a:srgbClr val="FFFFFF"/>
                </a:solidFill>
                <a:latin typeface="Calibri Light"/>
                <a:cs typeface="Calibri Light"/>
              </a:rPr>
              <a:t>charges</a:t>
            </a:r>
            <a:r>
              <a:rPr sz="2000" spc="-290" dirty="0">
                <a:solidFill>
                  <a:srgbClr val="FFFFFF"/>
                </a:solidFill>
                <a:latin typeface="Calibri Light"/>
                <a:cs typeface="Calibri Light"/>
              </a:rPr>
              <a:t> </a:t>
            </a:r>
            <a:r>
              <a:rPr sz="2000" spc="-25" dirty="0">
                <a:solidFill>
                  <a:srgbClr val="FFFFFF"/>
                </a:solidFill>
                <a:latin typeface="Calibri Light"/>
                <a:cs typeface="Calibri Light"/>
              </a:rPr>
              <a:t>and </a:t>
            </a:r>
            <a:r>
              <a:rPr sz="2000" spc="-145" dirty="0">
                <a:solidFill>
                  <a:srgbClr val="FFFFFF"/>
                </a:solidFill>
                <a:latin typeface="Calibri Light"/>
                <a:cs typeface="Calibri Light"/>
              </a:rPr>
              <a:t>total</a:t>
            </a:r>
            <a:r>
              <a:rPr sz="2000" spc="-254" dirty="0">
                <a:solidFill>
                  <a:srgbClr val="FFFFFF"/>
                </a:solidFill>
                <a:latin typeface="Calibri Light"/>
                <a:cs typeface="Calibri Light"/>
              </a:rPr>
              <a:t> </a:t>
            </a:r>
            <a:r>
              <a:rPr sz="2000" spc="-25" dirty="0">
                <a:solidFill>
                  <a:srgbClr val="FFFFFF"/>
                </a:solidFill>
                <a:latin typeface="Calibri Light"/>
                <a:cs typeface="Calibri Light"/>
              </a:rPr>
              <a:t>charges?</a:t>
            </a:r>
            <a:endParaRPr sz="2000">
              <a:latin typeface="Calibri Light"/>
              <a:cs typeface="Calibri Light"/>
            </a:endParaRPr>
          </a:p>
        </p:txBody>
      </p:sp>
      <p:sp>
        <p:nvSpPr>
          <p:cNvPr id="7" name="object 7"/>
          <p:cNvSpPr/>
          <p:nvPr/>
        </p:nvSpPr>
        <p:spPr>
          <a:xfrm>
            <a:off x="0" y="0"/>
            <a:ext cx="12191999" cy="1280160"/>
          </a:xfrm>
          <a:custGeom>
            <a:avLst/>
            <a:gdLst/>
            <a:ahLst/>
            <a:cxnLst/>
            <a:rect l="l" t="t" r="r" b="b"/>
            <a:pathLst>
              <a:path w="6096000" h="1280160">
                <a:moveTo>
                  <a:pt x="6096000" y="0"/>
                </a:moveTo>
                <a:lnTo>
                  <a:pt x="0" y="0"/>
                </a:lnTo>
                <a:lnTo>
                  <a:pt x="0" y="1280160"/>
                </a:lnTo>
                <a:lnTo>
                  <a:pt x="6096000" y="1280160"/>
                </a:lnTo>
                <a:lnTo>
                  <a:pt x="6096000" y="0"/>
                </a:lnTo>
                <a:close/>
              </a:path>
            </a:pathLst>
          </a:custGeom>
          <a:solidFill>
            <a:srgbClr val="0E3954"/>
          </a:solidFill>
        </p:spPr>
        <p:txBody>
          <a:bodyPr wrap="square" lIns="0" tIns="0" rIns="0" bIns="0" rtlCol="0"/>
          <a:lstStyle/>
          <a:p>
            <a:endParaRPr/>
          </a:p>
        </p:txBody>
      </p:sp>
      <p:sp>
        <p:nvSpPr>
          <p:cNvPr id="8" name="object 8"/>
          <p:cNvSpPr txBox="1">
            <a:spLocks noGrp="1"/>
          </p:cNvSpPr>
          <p:nvPr>
            <p:ph type="title"/>
          </p:nvPr>
        </p:nvSpPr>
        <p:spPr>
          <a:xfrm>
            <a:off x="0" y="228600"/>
            <a:ext cx="12191999" cy="635000"/>
          </a:xfrm>
          <a:prstGeom prst="rect">
            <a:avLst/>
          </a:prstGeom>
        </p:spPr>
        <p:txBody>
          <a:bodyPr vert="horz" wrap="square" lIns="0" tIns="12065" rIns="0" bIns="0" rtlCol="0">
            <a:spAutoFit/>
          </a:bodyPr>
          <a:lstStyle/>
          <a:p>
            <a:pPr marL="12700">
              <a:lnSpc>
                <a:spcPct val="100000"/>
              </a:lnSpc>
              <a:spcBef>
                <a:spcPts val="95"/>
              </a:spcBef>
            </a:pPr>
            <a:r>
              <a:rPr lang="en-IN" dirty="0"/>
              <a:t>Key Business Questions</a:t>
            </a:r>
            <a:endParaRPr spc="-75" dirty="0"/>
          </a:p>
        </p:txBody>
      </p:sp>
      <p:sp>
        <p:nvSpPr>
          <p:cNvPr id="10" name="TextBox 9">
            <a:extLst>
              <a:ext uri="{FF2B5EF4-FFF2-40B4-BE49-F238E27FC236}">
                <a16:creationId xmlns:a16="http://schemas.microsoft.com/office/drawing/2014/main" id="{93DA4397-D2BF-BEA3-825C-7406030ABBC5}"/>
              </a:ext>
            </a:extLst>
          </p:cNvPr>
          <p:cNvSpPr txBox="1"/>
          <p:nvPr/>
        </p:nvSpPr>
        <p:spPr>
          <a:xfrm>
            <a:off x="0" y="1371600"/>
            <a:ext cx="10972800" cy="2031325"/>
          </a:xfrm>
          <a:prstGeom prst="rect">
            <a:avLst/>
          </a:prstGeom>
          <a:noFill/>
        </p:spPr>
        <p:txBody>
          <a:bodyPr wrap="square">
            <a:spAutoFit/>
          </a:bodyPr>
          <a:lstStyle/>
          <a:p>
            <a:pPr>
              <a:buNone/>
            </a:pPr>
            <a:r>
              <a:rPr lang="en-US" dirty="0"/>
              <a:t>This project aims to answer several important questions:</a:t>
            </a:r>
          </a:p>
          <a:p>
            <a:pPr>
              <a:buNone/>
            </a:pPr>
            <a:endParaRPr lang="en-US" dirty="0"/>
          </a:p>
          <a:p>
            <a:pPr>
              <a:buFont typeface="Arial" panose="020B0604020202020204" pitchFamily="34" charset="0"/>
              <a:buChar char="•"/>
            </a:pPr>
            <a:r>
              <a:rPr lang="en-US" dirty="0"/>
              <a:t>What factors contribute most to churn?</a:t>
            </a:r>
          </a:p>
          <a:p>
            <a:pPr>
              <a:buFont typeface="Arial" panose="020B0604020202020204" pitchFamily="34" charset="0"/>
              <a:buChar char="•"/>
            </a:pPr>
            <a:r>
              <a:rPr lang="en-US" dirty="0"/>
              <a:t>Which customer segments are at high risk?</a:t>
            </a:r>
          </a:p>
          <a:p>
            <a:pPr>
              <a:buFont typeface="Arial" panose="020B0604020202020204" pitchFamily="34" charset="0"/>
              <a:buChar char="•"/>
            </a:pPr>
            <a:r>
              <a:rPr lang="en-US" dirty="0"/>
              <a:t>How do contract type, tenure, and billing affect churn?</a:t>
            </a:r>
          </a:p>
          <a:p>
            <a:pPr>
              <a:buFont typeface="Arial" panose="020B0604020202020204" pitchFamily="34" charset="0"/>
              <a:buChar char="•"/>
            </a:pPr>
            <a:r>
              <a:rPr lang="en-US" dirty="0"/>
              <a:t>Do services like fiber optic or online security impact churn?</a:t>
            </a:r>
          </a:p>
          <a:p>
            <a:pPr>
              <a:buFont typeface="Arial" panose="020B0604020202020204" pitchFamily="34" charset="0"/>
              <a:buChar char="•"/>
            </a:pPr>
            <a:r>
              <a:rPr lang="en-US" dirty="0"/>
              <a:t>What retention strategies can reduce churn?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4557521" y="1559813"/>
            <a:ext cx="7340600" cy="3816985"/>
          </a:xfrm>
          <a:prstGeom prst="rect">
            <a:avLst/>
          </a:prstGeom>
        </p:spPr>
        <p:txBody>
          <a:bodyPr vert="horz" wrap="square" lIns="0" tIns="47625" rIns="0" bIns="0" rtlCol="0">
            <a:spAutoFit/>
          </a:bodyPr>
          <a:lstStyle/>
          <a:p>
            <a:pPr marL="241300" marR="5080" indent="-228600">
              <a:lnSpc>
                <a:spcPts val="2160"/>
              </a:lnSpc>
              <a:spcBef>
                <a:spcPts val="375"/>
              </a:spcBef>
              <a:buClr>
                <a:srgbClr val="FFFFFF"/>
              </a:buClr>
              <a:buFont typeface="Arial MT"/>
              <a:buChar char="•"/>
              <a:tabLst>
                <a:tab pos="241300" algn="l"/>
              </a:tabLst>
            </a:pPr>
            <a:r>
              <a:rPr sz="2000" spc="-135" dirty="0">
                <a:solidFill>
                  <a:srgbClr val="FFFFFF"/>
                </a:solidFill>
                <a:latin typeface="Calibri Light"/>
                <a:cs typeface="Calibri Light"/>
              </a:rPr>
              <a:t>What</a:t>
            </a:r>
            <a:r>
              <a:rPr sz="2000" spc="-260" dirty="0">
                <a:solidFill>
                  <a:srgbClr val="FFFFFF"/>
                </a:solidFill>
                <a:latin typeface="Calibri Light"/>
                <a:cs typeface="Calibri Light"/>
              </a:rPr>
              <a:t> </a:t>
            </a:r>
            <a:r>
              <a:rPr sz="2000" spc="-85" dirty="0">
                <a:solidFill>
                  <a:srgbClr val="FFFFFF"/>
                </a:solidFill>
                <a:latin typeface="Calibri Light"/>
                <a:cs typeface="Calibri Light"/>
              </a:rPr>
              <a:t>is</a:t>
            </a:r>
            <a:r>
              <a:rPr sz="2000" spc="-270" dirty="0">
                <a:solidFill>
                  <a:srgbClr val="FFFFFF"/>
                </a:solidFill>
                <a:latin typeface="Calibri Light"/>
                <a:cs typeface="Calibri Light"/>
              </a:rPr>
              <a:t> </a:t>
            </a:r>
            <a:r>
              <a:rPr sz="2000" spc="-114" dirty="0">
                <a:solidFill>
                  <a:srgbClr val="FFFFFF"/>
                </a:solidFill>
                <a:latin typeface="Calibri Light"/>
                <a:cs typeface="Calibri Light"/>
              </a:rPr>
              <a:t>the</a:t>
            </a:r>
            <a:r>
              <a:rPr sz="2000" spc="-250" dirty="0">
                <a:solidFill>
                  <a:srgbClr val="FFFFFF"/>
                </a:solidFill>
                <a:latin typeface="Calibri Light"/>
                <a:cs typeface="Calibri Light"/>
              </a:rPr>
              <a:t> </a:t>
            </a:r>
            <a:r>
              <a:rPr sz="2000" spc="-160" dirty="0">
                <a:solidFill>
                  <a:srgbClr val="FFFFFF"/>
                </a:solidFill>
                <a:latin typeface="Calibri Light"/>
                <a:cs typeface="Calibri Light"/>
              </a:rPr>
              <a:t>percentage</a:t>
            </a:r>
            <a:r>
              <a:rPr sz="2000" spc="-275" dirty="0">
                <a:solidFill>
                  <a:srgbClr val="FFFFFF"/>
                </a:solidFill>
                <a:latin typeface="Calibri Light"/>
                <a:cs typeface="Calibri Light"/>
              </a:rPr>
              <a:t> </a:t>
            </a:r>
            <a:r>
              <a:rPr sz="2000" spc="-90" dirty="0">
                <a:solidFill>
                  <a:srgbClr val="FFFFFF"/>
                </a:solidFill>
                <a:latin typeface="Calibri Light"/>
                <a:cs typeface="Calibri Light"/>
              </a:rPr>
              <a:t>of</a:t>
            </a:r>
            <a:r>
              <a:rPr sz="2000" spc="-250" dirty="0">
                <a:solidFill>
                  <a:srgbClr val="FFFFFF"/>
                </a:solidFill>
                <a:latin typeface="Calibri Light"/>
                <a:cs typeface="Calibri Light"/>
              </a:rPr>
              <a:t> </a:t>
            </a:r>
            <a:r>
              <a:rPr sz="2000" spc="-160" dirty="0">
                <a:solidFill>
                  <a:srgbClr val="FFFFFF"/>
                </a:solidFill>
                <a:latin typeface="Calibri Light"/>
                <a:cs typeface="Calibri Light"/>
              </a:rPr>
              <a:t>customers</a:t>
            </a:r>
            <a:r>
              <a:rPr sz="2000" spc="-260" dirty="0">
                <a:solidFill>
                  <a:srgbClr val="FFFFFF"/>
                </a:solidFill>
                <a:latin typeface="Calibri Light"/>
                <a:cs typeface="Calibri Light"/>
              </a:rPr>
              <a:t> </a:t>
            </a:r>
            <a:r>
              <a:rPr sz="2000" spc="-125" dirty="0">
                <a:solidFill>
                  <a:srgbClr val="FFFFFF"/>
                </a:solidFill>
                <a:latin typeface="Calibri Light"/>
                <a:cs typeface="Calibri Light"/>
              </a:rPr>
              <a:t>with</a:t>
            </a:r>
            <a:r>
              <a:rPr sz="2000" spc="-250" dirty="0">
                <a:solidFill>
                  <a:srgbClr val="FFFFFF"/>
                </a:solidFill>
                <a:latin typeface="Calibri Light"/>
                <a:cs typeface="Calibri Light"/>
              </a:rPr>
              <a:t> </a:t>
            </a:r>
            <a:r>
              <a:rPr sz="2000" spc="-155" dirty="0">
                <a:solidFill>
                  <a:srgbClr val="FFFFFF"/>
                </a:solidFill>
                <a:latin typeface="Calibri Light"/>
                <a:cs typeface="Calibri Light"/>
              </a:rPr>
              <a:t>department</a:t>
            </a:r>
            <a:r>
              <a:rPr sz="2000" spc="-254" dirty="0">
                <a:solidFill>
                  <a:srgbClr val="FFFFFF"/>
                </a:solidFill>
                <a:latin typeface="Calibri Light"/>
                <a:cs typeface="Calibri Light"/>
              </a:rPr>
              <a:t> </a:t>
            </a:r>
            <a:r>
              <a:rPr sz="2000" spc="-110" dirty="0">
                <a:solidFill>
                  <a:srgbClr val="FFFFFF"/>
                </a:solidFill>
                <a:latin typeface="Calibri Light"/>
                <a:cs typeface="Calibri Light"/>
              </a:rPr>
              <a:t>and</a:t>
            </a:r>
            <a:r>
              <a:rPr sz="2000" spc="-265" dirty="0">
                <a:solidFill>
                  <a:srgbClr val="FFFFFF"/>
                </a:solidFill>
                <a:latin typeface="Calibri Light"/>
                <a:cs typeface="Calibri Light"/>
              </a:rPr>
              <a:t> </a:t>
            </a:r>
            <a:r>
              <a:rPr sz="2000" spc="-140" dirty="0">
                <a:solidFill>
                  <a:srgbClr val="FFFFFF"/>
                </a:solidFill>
                <a:latin typeface="Calibri Light"/>
                <a:cs typeface="Calibri Light"/>
              </a:rPr>
              <a:t>partner</a:t>
            </a:r>
            <a:r>
              <a:rPr sz="2000" spc="-265" dirty="0">
                <a:solidFill>
                  <a:srgbClr val="FFFFFF"/>
                </a:solidFill>
                <a:latin typeface="Calibri Light"/>
                <a:cs typeface="Calibri Light"/>
              </a:rPr>
              <a:t> </a:t>
            </a:r>
            <a:r>
              <a:rPr sz="2000" spc="-85" dirty="0">
                <a:solidFill>
                  <a:srgbClr val="FFFFFF"/>
                </a:solidFill>
                <a:latin typeface="Calibri Light"/>
                <a:cs typeface="Calibri Light"/>
              </a:rPr>
              <a:t>in</a:t>
            </a:r>
            <a:r>
              <a:rPr sz="2000" spc="-265" dirty="0">
                <a:solidFill>
                  <a:srgbClr val="FFFFFF"/>
                </a:solidFill>
                <a:latin typeface="Calibri Light"/>
                <a:cs typeface="Calibri Light"/>
              </a:rPr>
              <a:t> </a:t>
            </a:r>
            <a:r>
              <a:rPr sz="2000" spc="-160" dirty="0">
                <a:solidFill>
                  <a:srgbClr val="FFFFFF"/>
                </a:solidFill>
                <a:latin typeface="Calibri Light"/>
                <a:cs typeface="Calibri Light"/>
              </a:rPr>
              <a:t>customers</a:t>
            </a:r>
            <a:r>
              <a:rPr sz="2000" spc="-254" dirty="0">
                <a:solidFill>
                  <a:srgbClr val="FFFFFF"/>
                </a:solidFill>
                <a:latin typeface="Calibri Light"/>
                <a:cs typeface="Calibri Light"/>
              </a:rPr>
              <a:t> </a:t>
            </a:r>
            <a:r>
              <a:rPr sz="2000" spc="-25" dirty="0">
                <a:solidFill>
                  <a:srgbClr val="FFFFFF"/>
                </a:solidFill>
                <a:latin typeface="Calibri Light"/>
                <a:cs typeface="Calibri Light"/>
              </a:rPr>
              <a:t>and </a:t>
            </a:r>
            <a:r>
              <a:rPr sz="2000" spc="-140" dirty="0">
                <a:solidFill>
                  <a:srgbClr val="FFFFFF"/>
                </a:solidFill>
                <a:latin typeface="Calibri Light"/>
                <a:cs typeface="Calibri Light"/>
              </a:rPr>
              <a:t>churner</a:t>
            </a:r>
            <a:r>
              <a:rPr sz="2000" spc="-270" dirty="0">
                <a:solidFill>
                  <a:srgbClr val="FFFFFF"/>
                </a:solidFill>
                <a:latin typeface="Calibri Light"/>
                <a:cs typeface="Calibri Light"/>
              </a:rPr>
              <a:t> </a:t>
            </a:r>
            <a:r>
              <a:rPr sz="2000" spc="-40" dirty="0">
                <a:solidFill>
                  <a:srgbClr val="FFFFFF"/>
                </a:solidFill>
                <a:latin typeface="Calibri Light"/>
                <a:cs typeface="Calibri Light"/>
              </a:rPr>
              <a:t>profile.?</a:t>
            </a:r>
            <a:endParaRPr sz="2000" dirty="0">
              <a:latin typeface="Calibri Light"/>
              <a:cs typeface="Calibri Light"/>
            </a:endParaRPr>
          </a:p>
          <a:p>
            <a:pPr marL="240665" indent="-227965">
              <a:lnSpc>
                <a:spcPct val="100000"/>
              </a:lnSpc>
              <a:spcBef>
                <a:spcPts val="735"/>
              </a:spcBef>
              <a:buFont typeface="Arial MT"/>
              <a:buChar char="•"/>
              <a:tabLst>
                <a:tab pos="240665" algn="l"/>
              </a:tabLst>
            </a:pPr>
            <a:r>
              <a:rPr sz="2000" spc="-135" dirty="0">
                <a:solidFill>
                  <a:srgbClr val="FFFFFF"/>
                </a:solidFill>
                <a:latin typeface="Calibri Light"/>
                <a:cs typeface="Calibri Light"/>
              </a:rPr>
              <a:t>What</a:t>
            </a:r>
            <a:r>
              <a:rPr sz="2000" spc="-275" dirty="0">
                <a:solidFill>
                  <a:srgbClr val="FFFFFF"/>
                </a:solidFill>
                <a:latin typeface="Calibri Light"/>
                <a:cs typeface="Calibri Light"/>
              </a:rPr>
              <a:t> </a:t>
            </a:r>
            <a:r>
              <a:rPr sz="2000" spc="-85" dirty="0">
                <a:solidFill>
                  <a:srgbClr val="FFFFFF"/>
                </a:solidFill>
                <a:latin typeface="Calibri Light"/>
                <a:cs typeface="Calibri Light"/>
              </a:rPr>
              <a:t>is</a:t>
            </a:r>
            <a:r>
              <a:rPr sz="2000" spc="-285" dirty="0">
                <a:solidFill>
                  <a:srgbClr val="FFFFFF"/>
                </a:solidFill>
                <a:latin typeface="Calibri Light"/>
                <a:cs typeface="Calibri Light"/>
              </a:rPr>
              <a:t> </a:t>
            </a:r>
            <a:r>
              <a:rPr sz="2000" spc="-114" dirty="0">
                <a:solidFill>
                  <a:srgbClr val="FFFFFF"/>
                </a:solidFill>
                <a:latin typeface="Calibri Light"/>
                <a:cs typeface="Calibri Light"/>
              </a:rPr>
              <a:t>the</a:t>
            </a:r>
            <a:r>
              <a:rPr sz="2000" spc="-265" dirty="0">
                <a:solidFill>
                  <a:srgbClr val="FFFFFF"/>
                </a:solidFill>
                <a:latin typeface="Calibri Light"/>
                <a:cs typeface="Calibri Light"/>
              </a:rPr>
              <a:t> </a:t>
            </a:r>
            <a:r>
              <a:rPr sz="2000" spc="-140" dirty="0">
                <a:solidFill>
                  <a:srgbClr val="FFFFFF"/>
                </a:solidFill>
                <a:latin typeface="Calibri Light"/>
                <a:cs typeface="Calibri Light"/>
              </a:rPr>
              <a:t>chance</a:t>
            </a:r>
            <a:r>
              <a:rPr sz="2000" spc="-275" dirty="0">
                <a:solidFill>
                  <a:srgbClr val="FFFFFF"/>
                </a:solidFill>
                <a:latin typeface="Calibri Light"/>
                <a:cs typeface="Calibri Light"/>
              </a:rPr>
              <a:t> </a:t>
            </a:r>
            <a:r>
              <a:rPr sz="2000" spc="-90" dirty="0">
                <a:solidFill>
                  <a:srgbClr val="FFFFFF"/>
                </a:solidFill>
                <a:latin typeface="Calibri Light"/>
                <a:cs typeface="Calibri Light"/>
              </a:rPr>
              <a:t>of</a:t>
            </a:r>
            <a:r>
              <a:rPr sz="2000" spc="-285" dirty="0">
                <a:solidFill>
                  <a:srgbClr val="FFFFFF"/>
                </a:solidFill>
                <a:latin typeface="Calibri Light"/>
                <a:cs typeface="Calibri Light"/>
              </a:rPr>
              <a:t> </a:t>
            </a:r>
            <a:r>
              <a:rPr sz="2000" spc="-125" dirty="0">
                <a:solidFill>
                  <a:srgbClr val="FFFFFF"/>
                </a:solidFill>
                <a:latin typeface="Calibri Light"/>
                <a:cs typeface="Calibri Light"/>
              </a:rPr>
              <a:t>churn</a:t>
            </a:r>
            <a:r>
              <a:rPr sz="2000" spc="-275" dirty="0">
                <a:solidFill>
                  <a:srgbClr val="FFFFFF"/>
                </a:solidFill>
                <a:latin typeface="Calibri Light"/>
                <a:cs typeface="Calibri Light"/>
              </a:rPr>
              <a:t> </a:t>
            </a:r>
            <a:r>
              <a:rPr sz="2000" spc="-135" dirty="0">
                <a:solidFill>
                  <a:srgbClr val="FFFFFF"/>
                </a:solidFill>
                <a:latin typeface="Calibri Light"/>
                <a:cs typeface="Calibri Light"/>
              </a:rPr>
              <a:t>based</a:t>
            </a:r>
            <a:r>
              <a:rPr sz="2000" spc="-295" dirty="0">
                <a:solidFill>
                  <a:srgbClr val="FFFFFF"/>
                </a:solidFill>
                <a:latin typeface="Calibri Light"/>
                <a:cs typeface="Calibri Light"/>
              </a:rPr>
              <a:t> </a:t>
            </a:r>
            <a:r>
              <a:rPr sz="2000" spc="-80" dirty="0">
                <a:solidFill>
                  <a:srgbClr val="FFFFFF"/>
                </a:solidFill>
                <a:latin typeface="Calibri Light"/>
                <a:cs typeface="Calibri Light"/>
              </a:rPr>
              <a:t>on</a:t>
            </a:r>
            <a:r>
              <a:rPr sz="2000" spc="-280" dirty="0">
                <a:solidFill>
                  <a:srgbClr val="FFFFFF"/>
                </a:solidFill>
                <a:latin typeface="Calibri Light"/>
                <a:cs typeface="Calibri Light"/>
              </a:rPr>
              <a:t> </a:t>
            </a:r>
            <a:r>
              <a:rPr sz="2000" spc="-155" dirty="0">
                <a:solidFill>
                  <a:srgbClr val="FFFFFF"/>
                </a:solidFill>
                <a:latin typeface="Calibri Light"/>
                <a:cs typeface="Calibri Light"/>
              </a:rPr>
              <a:t>payment</a:t>
            </a:r>
            <a:r>
              <a:rPr sz="2000" spc="-254" dirty="0">
                <a:solidFill>
                  <a:srgbClr val="FFFFFF"/>
                </a:solidFill>
                <a:latin typeface="Calibri Light"/>
                <a:cs typeface="Calibri Light"/>
              </a:rPr>
              <a:t> </a:t>
            </a:r>
            <a:r>
              <a:rPr sz="2000" spc="-10" dirty="0">
                <a:solidFill>
                  <a:srgbClr val="FFFFFF"/>
                </a:solidFill>
                <a:latin typeface="Calibri Light"/>
                <a:cs typeface="Calibri Light"/>
              </a:rPr>
              <a:t>method?</a:t>
            </a:r>
            <a:endParaRPr sz="2000" dirty="0">
              <a:latin typeface="Calibri Light"/>
              <a:cs typeface="Calibri Light"/>
            </a:endParaRPr>
          </a:p>
          <a:p>
            <a:pPr marL="240665" indent="-227965">
              <a:lnSpc>
                <a:spcPct val="100000"/>
              </a:lnSpc>
              <a:spcBef>
                <a:spcPts val="755"/>
              </a:spcBef>
              <a:buFont typeface="Arial MT"/>
              <a:buChar char="•"/>
              <a:tabLst>
                <a:tab pos="240665" algn="l"/>
              </a:tabLst>
            </a:pPr>
            <a:r>
              <a:rPr sz="2000" spc="-135" dirty="0">
                <a:solidFill>
                  <a:srgbClr val="FFFFFF"/>
                </a:solidFill>
                <a:latin typeface="Calibri Light"/>
                <a:cs typeface="Calibri Light"/>
              </a:rPr>
              <a:t>What</a:t>
            </a:r>
            <a:r>
              <a:rPr sz="2000" spc="-260" dirty="0">
                <a:solidFill>
                  <a:srgbClr val="FFFFFF"/>
                </a:solidFill>
                <a:latin typeface="Calibri Light"/>
                <a:cs typeface="Calibri Light"/>
              </a:rPr>
              <a:t> </a:t>
            </a:r>
            <a:r>
              <a:rPr sz="2000" spc="-85" dirty="0">
                <a:solidFill>
                  <a:srgbClr val="FFFFFF"/>
                </a:solidFill>
                <a:latin typeface="Calibri Light"/>
                <a:cs typeface="Calibri Light"/>
              </a:rPr>
              <a:t>is</a:t>
            </a:r>
            <a:r>
              <a:rPr sz="2000" spc="-270" dirty="0">
                <a:solidFill>
                  <a:srgbClr val="FFFFFF"/>
                </a:solidFill>
                <a:latin typeface="Calibri Light"/>
                <a:cs typeface="Calibri Light"/>
              </a:rPr>
              <a:t> </a:t>
            </a:r>
            <a:r>
              <a:rPr sz="2000" spc="-114" dirty="0">
                <a:solidFill>
                  <a:srgbClr val="FFFFFF"/>
                </a:solidFill>
                <a:latin typeface="Calibri Light"/>
                <a:cs typeface="Calibri Light"/>
              </a:rPr>
              <a:t>the</a:t>
            </a:r>
            <a:r>
              <a:rPr sz="2000" spc="-250" dirty="0">
                <a:solidFill>
                  <a:srgbClr val="FFFFFF"/>
                </a:solidFill>
                <a:latin typeface="Calibri Light"/>
                <a:cs typeface="Calibri Light"/>
              </a:rPr>
              <a:t> </a:t>
            </a:r>
            <a:r>
              <a:rPr sz="2000" spc="-160" dirty="0">
                <a:solidFill>
                  <a:srgbClr val="FFFFFF"/>
                </a:solidFill>
                <a:latin typeface="Calibri Light"/>
                <a:cs typeface="Calibri Light"/>
              </a:rPr>
              <a:t>percentage</a:t>
            </a:r>
            <a:r>
              <a:rPr sz="2000" spc="-280" dirty="0">
                <a:solidFill>
                  <a:srgbClr val="FFFFFF"/>
                </a:solidFill>
                <a:latin typeface="Calibri Light"/>
                <a:cs typeface="Calibri Light"/>
              </a:rPr>
              <a:t> </a:t>
            </a:r>
            <a:r>
              <a:rPr sz="2000" spc="-90" dirty="0">
                <a:solidFill>
                  <a:srgbClr val="FFFFFF"/>
                </a:solidFill>
                <a:latin typeface="Calibri Light"/>
                <a:cs typeface="Calibri Light"/>
              </a:rPr>
              <a:t>of</a:t>
            </a:r>
            <a:r>
              <a:rPr sz="2000" spc="-265" dirty="0">
                <a:solidFill>
                  <a:srgbClr val="FFFFFF"/>
                </a:solidFill>
                <a:latin typeface="Calibri Light"/>
                <a:cs typeface="Calibri Light"/>
              </a:rPr>
              <a:t> </a:t>
            </a:r>
            <a:r>
              <a:rPr sz="2000" spc="-150" dirty="0">
                <a:solidFill>
                  <a:srgbClr val="FFFFFF"/>
                </a:solidFill>
                <a:latin typeface="Calibri Light"/>
                <a:cs typeface="Calibri Light"/>
              </a:rPr>
              <a:t>internet</a:t>
            </a:r>
            <a:r>
              <a:rPr sz="2000" spc="-254" dirty="0">
                <a:solidFill>
                  <a:srgbClr val="FFFFFF"/>
                </a:solidFill>
                <a:latin typeface="Calibri Light"/>
                <a:cs typeface="Calibri Light"/>
              </a:rPr>
              <a:t> </a:t>
            </a:r>
            <a:r>
              <a:rPr sz="2000" spc="-140" dirty="0">
                <a:solidFill>
                  <a:srgbClr val="FFFFFF"/>
                </a:solidFill>
                <a:latin typeface="Calibri Light"/>
                <a:cs typeface="Calibri Light"/>
              </a:rPr>
              <a:t>services</a:t>
            </a:r>
            <a:r>
              <a:rPr sz="2000" spc="-270" dirty="0">
                <a:solidFill>
                  <a:srgbClr val="FFFFFF"/>
                </a:solidFill>
                <a:latin typeface="Calibri Light"/>
                <a:cs typeface="Calibri Light"/>
              </a:rPr>
              <a:t> </a:t>
            </a:r>
            <a:r>
              <a:rPr sz="2000" spc="-95" dirty="0">
                <a:solidFill>
                  <a:srgbClr val="FFFFFF"/>
                </a:solidFill>
                <a:latin typeface="Calibri Light"/>
                <a:cs typeface="Calibri Light"/>
              </a:rPr>
              <a:t>by</a:t>
            </a:r>
            <a:r>
              <a:rPr sz="2000" spc="-254" dirty="0">
                <a:solidFill>
                  <a:srgbClr val="FFFFFF"/>
                </a:solidFill>
                <a:latin typeface="Calibri Light"/>
                <a:cs typeface="Calibri Light"/>
              </a:rPr>
              <a:t> </a:t>
            </a:r>
            <a:r>
              <a:rPr sz="2000" spc="-10" dirty="0">
                <a:solidFill>
                  <a:srgbClr val="FFFFFF"/>
                </a:solidFill>
                <a:latin typeface="Calibri Light"/>
                <a:cs typeface="Calibri Light"/>
              </a:rPr>
              <a:t>gender?</a:t>
            </a:r>
            <a:endParaRPr sz="2000" dirty="0">
              <a:latin typeface="Calibri Light"/>
              <a:cs typeface="Calibri Light"/>
            </a:endParaRPr>
          </a:p>
          <a:p>
            <a:pPr marL="240665" indent="-227965">
              <a:lnSpc>
                <a:spcPct val="100000"/>
              </a:lnSpc>
              <a:spcBef>
                <a:spcPts val="760"/>
              </a:spcBef>
              <a:buFont typeface="Arial MT"/>
              <a:buChar char="•"/>
              <a:tabLst>
                <a:tab pos="240665" algn="l"/>
              </a:tabLst>
            </a:pPr>
            <a:r>
              <a:rPr sz="2000" spc="-135" dirty="0">
                <a:solidFill>
                  <a:srgbClr val="FFFFFF"/>
                </a:solidFill>
                <a:latin typeface="Calibri Light"/>
                <a:cs typeface="Calibri Light"/>
              </a:rPr>
              <a:t>What</a:t>
            </a:r>
            <a:r>
              <a:rPr sz="2000" spc="-265" dirty="0">
                <a:solidFill>
                  <a:srgbClr val="FFFFFF"/>
                </a:solidFill>
                <a:latin typeface="Calibri Light"/>
                <a:cs typeface="Calibri Light"/>
              </a:rPr>
              <a:t> </a:t>
            </a:r>
            <a:r>
              <a:rPr sz="2000" spc="-85" dirty="0">
                <a:solidFill>
                  <a:srgbClr val="FFFFFF"/>
                </a:solidFill>
                <a:latin typeface="Calibri Light"/>
                <a:cs typeface="Calibri Light"/>
              </a:rPr>
              <a:t>is</a:t>
            </a:r>
            <a:r>
              <a:rPr sz="2000" spc="-280" dirty="0">
                <a:solidFill>
                  <a:srgbClr val="FFFFFF"/>
                </a:solidFill>
                <a:latin typeface="Calibri Light"/>
                <a:cs typeface="Calibri Light"/>
              </a:rPr>
              <a:t> </a:t>
            </a:r>
            <a:r>
              <a:rPr sz="2000" spc="-114" dirty="0">
                <a:solidFill>
                  <a:srgbClr val="FFFFFF"/>
                </a:solidFill>
                <a:latin typeface="Calibri Light"/>
                <a:cs typeface="Calibri Light"/>
              </a:rPr>
              <a:t>the</a:t>
            </a:r>
            <a:r>
              <a:rPr sz="2000" spc="-260" dirty="0">
                <a:solidFill>
                  <a:srgbClr val="FFFFFF"/>
                </a:solidFill>
                <a:latin typeface="Calibri Light"/>
                <a:cs typeface="Calibri Light"/>
              </a:rPr>
              <a:t> </a:t>
            </a:r>
            <a:r>
              <a:rPr sz="2000" spc="-160" dirty="0">
                <a:solidFill>
                  <a:srgbClr val="FFFFFF"/>
                </a:solidFill>
                <a:latin typeface="Calibri Light"/>
                <a:cs typeface="Calibri Light"/>
              </a:rPr>
              <a:t>percentage</a:t>
            </a:r>
            <a:r>
              <a:rPr sz="2000" spc="-280" dirty="0">
                <a:solidFill>
                  <a:srgbClr val="FFFFFF"/>
                </a:solidFill>
                <a:latin typeface="Calibri Light"/>
                <a:cs typeface="Calibri Light"/>
              </a:rPr>
              <a:t> </a:t>
            </a:r>
            <a:r>
              <a:rPr sz="2000" spc="-90" dirty="0">
                <a:solidFill>
                  <a:srgbClr val="FFFFFF"/>
                </a:solidFill>
                <a:latin typeface="Calibri Light"/>
                <a:cs typeface="Calibri Light"/>
              </a:rPr>
              <a:t>of</a:t>
            </a:r>
            <a:r>
              <a:rPr sz="2000" spc="-260" dirty="0">
                <a:solidFill>
                  <a:srgbClr val="FFFFFF"/>
                </a:solidFill>
                <a:latin typeface="Calibri Light"/>
                <a:cs typeface="Calibri Light"/>
              </a:rPr>
              <a:t> </a:t>
            </a:r>
            <a:r>
              <a:rPr sz="2000" spc="-160" dirty="0">
                <a:solidFill>
                  <a:srgbClr val="FFFFFF"/>
                </a:solidFill>
                <a:latin typeface="Calibri Light"/>
                <a:cs typeface="Calibri Light"/>
              </a:rPr>
              <a:t>customers</a:t>
            </a:r>
            <a:r>
              <a:rPr sz="2000" spc="-265" dirty="0">
                <a:solidFill>
                  <a:srgbClr val="FFFFFF"/>
                </a:solidFill>
                <a:latin typeface="Calibri Light"/>
                <a:cs typeface="Calibri Light"/>
              </a:rPr>
              <a:t> </a:t>
            </a:r>
            <a:r>
              <a:rPr sz="2000" spc="-110" dirty="0">
                <a:solidFill>
                  <a:srgbClr val="FFFFFF"/>
                </a:solidFill>
                <a:latin typeface="Calibri Light"/>
                <a:cs typeface="Calibri Light"/>
              </a:rPr>
              <a:t>who</a:t>
            </a:r>
            <a:r>
              <a:rPr sz="2000" spc="-275" dirty="0">
                <a:solidFill>
                  <a:srgbClr val="FFFFFF"/>
                </a:solidFill>
                <a:latin typeface="Calibri Light"/>
                <a:cs typeface="Calibri Light"/>
              </a:rPr>
              <a:t> </a:t>
            </a:r>
            <a:r>
              <a:rPr sz="2000" spc="-135" dirty="0">
                <a:solidFill>
                  <a:srgbClr val="FFFFFF"/>
                </a:solidFill>
                <a:latin typeface="Calibri Light"/>
                <a:cs typeface="Calibri Light"/>
              </a:rPr>
              <a:t>deposit</a:t>
            </a:r>
            <a:r>
              <a:rPr sz="2000" spc="-265" dirty="0">
                <a:solidFill>
                  <a:srgbClr val="FFFFFF"/>
                </a:solidFill>
                <a:latin typeface="Calibri Light"/>
                <a:cs typeface="Calibri Light"/>
              </a:rPr>
              <a:t> </a:t>
            </a:r>
            <a:r>
              <a:rPr sz="2000" spc="-135" dirty="0">
                <a:solidFill>
                  <a:srgbClr val="FFFFFF"/>
                </a:solidFill>
                <a:latin typeface="Calibri Light"/>
                <a:cs typeface="Calibri Light"/>
              </a:rPr>
              <a:t>online</a:t>
            </a:r>
            <a:r>
              <a:rPr sz="2000" spc="-285" dirty="0">
                <a:solidFill>
                  <a:srgbClr val="FFFFFF"/>
                </a:solidFill>
                <a:latin typeface="Calibri Light"/>
                <a:cs typeface="Calibri Light"/>
              </a:rPr>
              <a:t> </a:t>
            </a:r>
            <a:r>
              <a:rPr sz="2000" spc="-20" dirty="0">
                <a:solidFill>
                  <a:srgbClr val="FFFFFF"/>
                </a:solidFill>
                <a:latin typeface="Calibri Light"/>
                <a:cs typeface="Calibri Light"/>
              </a:rPr>
              <a:t>security?</a:t>
            </a:r>
            <a:endParaRPr sz="2000" dirty="0">
              <a:latin typeface="Calibri Light"/>
              <a:cs typeface="Calibri Light"/>
            </a:endParaRPr>
          </a:p>
          <a:p>
            <a:pPr marL="240665" indent="-227965">
              <a:lnSpc>
                <a:spcPct val="100000"/>
              </a:lnSpc>
              <a:spcBef>
                <a:spcPts val="770"/>
              </a:spcBef>
              <a:buFont typeface="Arial MT"/>
              <a:buChar char="•"/>
              <a:tabLst>
                <a:tab pos="240665" algn="l"/>
              </a:tabLst>
            </a:pPr>
            <a:r>
              <a:rPr sz="2000" spc="-135" dirty="0">
                <a:solidFill>
                  <a:srgbClr val="FFFFFF"/>
                </a:solidFill>
                <a:latin typeface="Calibri Light"/>
                <a:cs typeface="Calibri Light"/>
              </a:rPr>
              <a:t>What</a:t>
            </a:r>
            <a:r>
              <a:rPr sz="2000" spc="-260" dirty="0">
                <a:solidFill>
                  <a:srgbClr val="FFFFFF"/>
                </a:solidFill>
                <a:latin typeface="Calibri Light"/>
                <a:cs typeface="Calibri Light"/>
              </a:rPr>
              <a:t> </a:t>
            </a:r>
            <a:r>
              <a:rPr sz="2000" spc="-85" dirty="0">
                <a:solidFill>
                  <a:srgbClr val="FFFFFF"/>
                </a:solidFill>
                <a:latin typeface="Calibri Light"/>
                <a:cs typeface="Calibri Light"/>
              </a:rPr>
              <a:t>is</a:t>
            </a:r>
            <a:r>
              <a:rPr sz="2000" spc="-275" dirty="0">
                <a:solidFill>
                  <a:srgbClr val="FFFFFF"/>
                </a:solidFill>
                <a:latin typeface="Calibri Light"/>
                <a:cs typeface="Calibri Light"/>
              </a:rPr>
              <a:t> </a:t>
            </a:r>
            <a:r>
              <a:rPr sz="2000" spc="-114" dirty="0">
                <a:solidFill>
                  <a:srgbClr val="FFFFFF"/>
                </a:solidFill>
                <a:latin typeface="Calibri Light"/>
                <a:cs typeface="Calibri Light"/>
              </a:rPr>
              <a:t>the</a:t>
            </a:r>
            <a:r>
              <a:rPr sz="2000" spc="-250" dirty="0">
                <a:solidFill>
                  <a:srgbClr val="FFFFFF"/>
                </a:solidFill>
                <a:latin typeface="Calibri Light"/>
                <a:cs typeface="Calibri Light"/>
              </a:rPr>
              <a:t> </a:t>
            </a:r>
            <a:r>
              <a:rPr sz="2000" spc="-160" dirty="0">
                <a:solidFill>
                  <a:srgbClr val="FFFFFF"/>
                </a:solidFill>
                <a:latin typeface="Calibri Light"/>
                <a:cs typeface="Calibri Light"/>
              </a:rPr>
              <a:t>percentage</a:t>
            </a:r>
            <a:r>
              <a:rPr sz="2000" spc="-280" dirty="0">
                <a:solidFill>
                  <a:srgbClr val="FFFFFF"/>
                </a:solidFill>
                <a:latin typeface="Calibri Light"/>
                <a:cs typeface="Calibri Light"/>
              </a:rPr>
              <a:t> </a:t>
            </a:r>
            <a:r>
              <a:rPr sz="2000" spc="-90" dirty="0">
                <a:solidFill>
                  <a:srgbClr val="FFFFFF"/>
                </a:solidFill>
                <a:latin typeface="Calibri Light"/>
                <a:cs typeface="Calibri Light"/>
              </a:rPr>
              <a:t>of</a:t>
            </a:r>
            <a:r>
              <a:rPr sz="2000" spc="-250" dirty="0">
                <a:solidFill>
                  <a:srgbClr val="FFFFFF"/>
                </a:solidFill>
                <a:latin typeface="Calibri Light"/>
                <a:cs typeface="Calibri Light"/>
              </a:rPr>
              <a:t> </a:t>
            </a:r>
            <a:r>
              <a:rPr sz="2000" spc="-145" dirty="0">
                <a:solidFill>
                  <a:srgbClr val="FFFFFF"/>
                </a:solidFill>
                <a:latin typeface="Calibri Light"/>
                <a:cs typeface="Calibri Light"/>
              </a:rPr>
              <a:t>multiple</a:t>
            </a:r>
            <a:r>
              <a:rPr sz="2000" spc="-250" dirty="0">
                <a:solidFill>
                  <a:srgbClr val="FFFFFF"/>
                </a:solidFill>
                <a:latin typeface="Calibri Light"/>
                <a:cs typeface="Calibri Light"/>
              </a:rPr>
              <a:t> </a:t>
            </a:r>
            <a:r>
              <a:rPr sz="2000" spc="-130" dirty="0">
                <a:solidFill>
                  <a:srgbClr val="FFFFFF"/>
                </a:solidFill>
                <a:latin typeface="Calibri Light"/>
                <a:cs typeface="Calibri Light"/>
              </a:rPr>
              <a:t>lines</a:t>
            </a:r>
            <a:r>
              <a:rPr sz="2000" spc="-295" dirty="0">
                <a:solidFill>
                  <a:srgbClr val="FFFFFF"/>
                </a:solidFill>
                <a:latin typeface="Calibri Light"/>
                <a:cs typeface="Calibri Light"/>
              </a:rPr>
              <a:t> </a:t>
            </a:r>
            <a:r>
              <a:rPr sz="2000" spc="-155" dirty="0">
                <a:solidFill>
                  <a:srgbClr val="FFFFFF"/>
                </a:solidFill>
                <a:latin typeface="Calibri Light"/>
                <a:cs typeface="Calibri Light"/>
              </a:rPr>
              <a:t>connected</a:t>
            </a:r>
            <a:r>
              <a:rPr sz="2000" spc="-235" dirty="0">
                <a:solidFill>
                  <a:srgbClr val="FFFFFF"/>
                </a:solidFill>
                <a:latin typeface="Calibri Light"/>
                <a:cs typeface="Calibri Light"/>
              </a:rPr>
              <a:t> </a:t>
            </a:r>
            <a:r>
              <a:rPr sz="2000" spc="-95" dirty="0">
                <a:solidFill>
                  <a:srgbClr val="FFFFFF"/>
                </a:solidFill>
                <a:latin typeface="Calibri Light"/>
                <a:cs typeface="Calibri Light"/>
              </a:rPr>
              <a:t>by</a:t>
            </a:r>
            <a:r>
              <a:rPr sz="2000" spc="-254" dirty="0">
                <a:solidFill>
                  <a:srgbClr val="FFFFFF"/>
                </a:solidFill>
                <a:latin typeface="Calibri Light"/>
                <a:cs typeface="Calibri Light"/>
              </a:rPr>
              <a:t> </a:t>
            </a:r>
            <a:r>
              <a:rPr sz="2000" spc="-10" dirty="0">
                <a:solidFill>
                  <a:srgbClr val="FFFFFF"/>
                </a:solidFill>
                <a:latin typeface="Calibri Light"/>
                <a:cs typeface="Calibri Light"/>
              </a:rPr>
              <a:t>gender?</a:t>
            </a:r>
            <a:endParaRPr sz="2000" dirty="0">
              <a:latin typeface="Calibri Light"/>
              <a:cs typeface="Calibri Light"/>
            </a:endParaRPr>
          </a:p>
          <a:p>
            <a:pPr marL="240665" indent="-227965">
              <a:lnSpc>
                <a:spcPct val="100000"/>
              </a:lnSpc>
              <a:spcBef>
                <a:spcPts val="755"/>
              </a:spcBef>
              <a:buFont typeface="Arial MT"/>
              <a:buChar char="•"/>
              <a:tabLst>
                <a:tab pos="240665" algn="l"/>
              </a:tabLst>
            </a:pPr>
            <a:r>
              <a:rPr sz="2000" spc="-135" dirty="0">
                <a:solidFill>
                  <a:srgbClr val="FFFFFF"/>
                </a:solidFill>
                <a:latin typeface="Calibri Light"/>
                <a:cs typeface="Calibri Light"/>
              </a:rPr>
              <a:t>What</a:t>
            </a:r>
            <a:r>
              <a:rPr sz="2000" spc="-275" dirty="0">
                <a:solidFill>
                  <a:srgbClr val="FFFFFF"/>
                </a:solidFill>
                <a:latin typeface="Calibri Light"/>
                <a:cs typeface="Calibri Light"/>
              </a:rPr>
              <a:t> </a:t>
            </a:r>
            <a:r>
              <a:rPr sz="2000" spc="-85" dirty="0">
                <a:solidFill>
                  <a:srgbClr val="FFFFFF"/>
                </a:solidFill>
                <a:latin typeface="Calibri Light"/>
                <a:cs typeface="Calibri Light"/>
              </a:rPr>
              <a:t>is</a:t>
            </a:r>
            <a:r>
              <a:rPr sz="2000" spc="-285" dirty="0">
                <a:solidFill>
                  <a:srgbClr val="FFFFFF"/>
                </a:solidFill>
                <a:latin typeface="Calibri Light"/>
                <a:cs typeface="Calibri Light"/>
              </a:rPr>
              <a:t> </a:t>
            </a:r>
            <a:r>
              <a:rPr sz="2000" spc="-114" dirty="0">
                <a:solidFill>
                  <a:srgbClr val="FFFFFF"/>
                </a:solidFill>
                <a:latin typeface="Calibri Light"/>
                <a:cs typeface="Calibri Light"/>
              </a:rPr>
              <a:t>the</a:t>
            </a:r>
            <a:r>
              <a:rPr sz="2000" spc="-270" dirty="0">
                <a:solidFill>
                  <a:srgbClr val="FFFFFF"/>
                </a:solidFill>
                <a:latin typeface="Calibri Light"/>
                <a:cs typeface="Calibri Light"/>
              </a:rPr>
              <a:t> </a:t>
            </a:r>
            <a:r>
              <a:rPr sz="2000" spc="-140" dirty="0">
                <a:solidFill>
                  <a:srgbClr val="FFFFFF"/>
                </a:solidFill>
                <a:latin typeface="Calibri Light"/>
                <a:cs typeface="Calibri Light"/>
              </a:rPr>
              <a:t>chance</a:t>
            </a:r>
            <a:r>
              <a:rPr sz="2000" spc="-280" dirty="0">
                <a:solidFill>
                  <a:srgbClr val="FFFFFF"/>
                </a:solidFill>
                <a:latin typeface="Calibri Light"/>
                <a:cs typeface="Calibri Light"/>
              </a:rPr>
              <a:t> </a:t>
            </a:r>
            <a:r>
              <a:rPr sz="2000" spc="-90" dirty="0">
                <a:solidFill>
                  <a:srgbClr val="FFFFFF"/>
                </a:solidFill>
                <a:latin typeface="Calibri Light"/>
                <a:cs typeface="Calibri Light"/>
              </a:rPr>
              <a:t>of</a:t>
            </a:r>
            <a:r>
              <a:rPr sz="2000" spc="-285" dirty="0">
                <a:solidFill>
                  <a:srgbClr val="FFFFFF"/>
                </a:solidFill>
                <a:latin typeface="Calibri Light"/>
                <a:cs typeface="Calibri Light"/>
              </a:rPr>
              <a:t> </a:t>
            </a:r>
            <a:r>
              <a:rPr sz="2000" spc="-125" dirty="0">
                <a:solidFill>
                  <a:srgbClr val="FFFFFF"/>
                </a:solidFill>
                <a:latin typeface="Calibri Light"/>
                <a:cs typeface="Calibri Light"/>
              </a:rPr>
              <a:t>churn</a:t>
            </a:r>
            <a:r>
              <a:rPr sz="2000" spc="-275" dirty="0">
                <a:solidFill>
                  <a:srgbClr val="FFFFFF"/>
                </a:solidFill>
                <a:latin typeface="Calibri Light"/>
                <a:cs typeface="Calibri Light"/>
              </a:rPr>
              <a:t> </a:t>
            </a:r>
            <a:r>
              <a:rPr sz="2000" spc="-135" dirty="0">
                <a:solidFill>
                  <a:srgbClr val="FFFFFF"/>
                </a:solidFill>
                <a:latin typeface="Calibri Light"/>
                <a:cs typeface="Calibri Light"/>
              </a:rPr>
              <a:t>based</a:t>
            </a:r>
            <a:r>
              <a:rPr sz="2000" spc="-300" dirty="0">
                <a:solidFill>
                  <a:srgbClr val="FFFFFF"/>
                </a:solidFill>
                <a:latin typeface="Calibri Light"/>
                <a:cs typeface="Calibri Light"/>
              </a:rPr>
              <a:t> </a:t>
            </a:r>
            <a:r>
              <a:rPr sz="2000" spc="-80" dirty="0">
                <a:solidFill>
                  <a:srgbClr val="FFFFFF"/>
                </a:solidFill>
                <a:latin typeface="Calibri Light"/>
                <a:cs typeface="Calibri Light"/>
              </a:rPr>
              <a:t>on</a:t>
            </a:r>
            <a:r>
              <a:rPr sz="2000" spc="-280" dirty="0">
                <a:solidFill>
                  <a:srgbClr val="FFFFFF"/>
                </a:solidFill>
                <a:latin typeface="Calibri Light"/>
                <a:cs typeface="Calibri Light"/>
              </a:rPr>
              <a:t> </a:t>
            </a:r>
            <a:r>
              <a:rPr sz="2000" spc="-114" dirty="0">
                <a:solidFill>
                  <a:srgbClr val="FFFFFF"/>
                </a:solidFill>
                <a:latin typeface="Calibri Light"/>
                <a:cs typeface="Calibri Light"/>
              </a:rPr>
              <a:t>the</a:t>
            </a:r>
            <a:r>
              <a:rPr sz="2000" spc="-265" dirty="0">
                <a:solidFill>
                  <a:srgbClr val="FFFFFF"/>
                </a:solidFill>
                <a:latin typeface="Calibri Light"/>
                <a:cs typeface="Calibri Light"/>
              </a:rPr>
              <a:t> </a:t>
            </a:r>
            <a:r>
              <a:rPr sz="2000" spc="-10" dirty="0">
                <a:solidFill>
                  <a:srgbClr val="FFFFFF"/>
                </a:solidFill>
                <a:latin typeface="Calibri Light"/>
                <a:cs typeface="Calibri Light"/>
              </a:rPr>
              <a:t>bil</a:t>
            </a:r>
            <a:r>
              <a:rPr sz="2000" spc="-285" dirty="0">
                <a:solidFill>
                  <a:srgbClr val="FFFFFF"/>
                </a:solidFill>
                <a:latin typeface="Calibri Light"/>
                <a:cs typeface="Calibri Light"/>
              </a:rPr>
              <a:t> </a:t>
            </a:r>
            <a:r>
              <a:rPr sz="2000" spc="-145" dirty="0">
                <a:solidFill>
                  <a:srgbClr val="FFFFFF"/>
                </a:solidFill>
                <a:latin typeface="Calibri Light"/>
                <a:cs typeface="Calibri Light"/>
              </a:rPr>
              <a:t>delivery</a:t>
            </a:r>
            <a:r>
              <a:rPr sz="2000" spc="-280" dirty="0">
                <a:solidFill>
                  <a:srgbClr val="FFFFFF"/>
                </a:solidFill>
                <a:latin typeface="Calibri Light"/>
                <a:cs typeface="Calibri Light"/>
              </a:rPr>
              <a:t> </a:t>
            </a:r>
            <a:r>
              <a:rPr sz="2000" spc="-10" dirty="0">
                <a:solidFill>
                  <a:srgbClr val="FFFFFF"/>
                </a:solidFill>
                <a:latin typeface="Calibri Light"/>
                <a:cs typeface="Calibri Light"/>
              </a:rPr>
              <a:t>method?</a:t>
            </a:r>
            <a:endParaRPr sz="2000" dirty="0">
              <a:latin typeface="Calibri Light"/>
              <a:cs typeface="Calibri Light"/>
            </a:endParaRPr>
          </a:p>
          <a:p>
            <a:pPr marL="240665" indent="-227965">
              <a:lnSpc>
                <a:spcPct val="100000"/>
              </a:lnSpc>
              <a:spcBef>
                <a:spcPts val="755"/>
              </a:spcBef>
              <a:buFont typeface="Arial MT"/>
              <a:buChar char="•"/>
              <a:tabLst>
                <a:tab pos="240665" algn="l"/>
              </a:tabLst>
            </a:pPr>
            <a:r>
              <a:rPr sz="2000" spc="-135" dirty="0">
                <a:solidFill>
                  <a:srgbClr val="FFFFFF"/>
                </a:solidFill>
                <a:latin typeface="Calibri Light"/>
                <a:cs typeface="Calibri Light"/>
              </a:rPr>
              <a:t>What</a:t>
            </a:r>
            <a:r>
              <a:rPr sz="2000" spc="-260" dirty="0">
                <a:solidFill>
                  <a:srgbClr val="FFFFFF"/>
                </a:solidFill>
                <a:latin typeface="Calibri Light"/>
                <a:cs typeface="Calibri Light"/>
              </a:rPr>
              <a:t> </a:t>
            </a:r>
            <a:r>
              <a:rPr sz="2000" spc="-85" dirty="0">
                <a:solidFill>
                  <a:srgbClr val="FFFFFF"/>
                </a:solidFill>
                <a:latin typeface="Calibri Light"/>
                <a:cs typeface="Calibri Light"/>
              </a:rPr>
              <a:t>is</a:t>
            </a:r>
            <a:r>
              <a:rPr sz="2000" spc="-270" dirty="0">
                <a:solidFill>
                  <a:srgbClr val="FFFFFF"/>
                </a:solidFill>
                <a:latin typeface="Calibri Light"/>
                <a:cs typeface="Calibri Light"/>
              </a:rPr>
              <a:t> </a:t>
            </a:r>
            <a:r>
              <a:rPr sz="2000" spc="-114" dirty="0">
                <a:solidFill>
                  <a:srgbClr val="FFFFFF"/>
                </a:solidFill>
                <a:latin typeface="Calibri Light"/>
                <a:cs typeface="Calibri Light"/>
              </a:rPr>
              <a:t>the</a:t>
            </a:r>
            <a:r>
              <a:rPr sz="2000" spc="-250" dirty="0">
                <a:solidFill>
                  <a:srgbClr val="FFFFFF"/>
                </a:solidFill>
                <a:latin typeface="Calibri Light"/>
                <a:cs typeface="Calibri Light"/>
              </a:rPr>
              <a:t> </a:t>
            </a:r>
            <a:r>
              <a:rPr sz="2000" spc="-160" dirty="0">
                <a:solidFill>
                  <a:srgbClr val="FFFFFF"/>
                </a:solidFill>
                <a:latin typeface="Calibri Light"/>
                <a:cs typeface="Calibri Light"/>
              </a:rPr>
              <a:t>percentage</a:t>
            </a:r>
            <a:r>
              <a:rPr sz="2000" spc="-285" dirty="0">
                <a:solidFill>
                  <a:srgbClr val="FFFFFF"/>
                </a:solidFill>
                <a:latin typeface="Calibri Light"/>
                <a:cs typeface="Calibri Light"/>
              </a:rPr>
              <a:t> </a:t>
            </a:r>
            <a:r>
              <a:rPr sz="2000" spc="-90" dirty="0">
                <a:solidFill>
                  <a:srgbClr val="FFFFFF"/>
                </a:solidFill>
                <a:latin typeface="Calibri Light"/>
                <a:cs typeface="Calibri Light"/>
              </a:rPr>
              <a:t>of</a:t>
            </a:r>
            <a:r>
              <a:rPr sz="2000" spc="-260" dirty="0">
                <a:solidFill>
                  <a:srgbClr val="FFFFFF"/>
                </a:solidFill>
                <a:latin typeface="Calibri Light"/>
                <a:cs typeface="Calibri Light"/>
              </a:rPr>
              <a:t> </a:t>
            </a:r>
            <a:r>
              <a:rPr sz="2000" spc="-150" dirty="0">
                <a:solidFill>
                  <a:srgbClr val="FFFFFF"/>
                </a:solidFill>
                <a:latin typeface="Calibri Light"/>
                <a:cs typeface="Calibri Light"/>
              </a:rPr>
              <a:t>technical</a:t>
            </a:r>
            <a:r>
              <a:rPr sz="2000" spc="-260" dirty="0">
                <a:solidFill>
                  <a:srgbClr val="FFFFFF"/>
                </a:solidFill>
                <a:latin typeface="Calibri Light"/>
                <a:cs typeface="Calibri Light"/>
              </a:rPr>
              <a:t> </a:t>
            </a:r>
            <a:r>
              <a:rPr sz="2000" spc="-140" dirty="0">
                <a:solidFill>
                  <a:srgbClr val="FFFFFF"/>
                </a:solidFill>
                <a:latin typeface="Calibri Light"/>
                <a:cs typeface="Calibri Light"/>
              </a:rPr>
              <a:t>support</a:t>
            </a:r>
            <a:r>
              <a:rPr sz="2000" spc="-275" dirty="0">
                <a:solidFill>
                  <a:srgbClr val="FFFFFF"/>
                </a:solidFill>
                <a:latin typeface="Calibri Light"/>
                <a:cs typeface="Calibri Light"/>
              </a:rPr>
              <a:t> </a:t>
            </a:r>
            <a:r>
              <a:rPr sz="2000" spc="-95" dirty="0">
                <a:solidFill>
                  <a:srgbClr val="FFFFFF"/>
                </a:solidFill>
                <a:latin typeface="Calibri Light"/>
                <a:cs typeface="Calibri Light"/>
              </a:rPr>
              <a:t>by</a:t>
            </a:r>
            <a:r>
              <a:rPr sz="2000" spc="-254" dirty="0">
                <a:solidFill>
                  <a:srgbClr val="FFFFFF"/>
                </a:solidFill>
                <a:latin typeface="Calibri Light"/>
                <a:cs typeface="Calibri Light"/>
              </a:rPr>
              <a:t> </a:t>
            </a:r>
            <a:r>
              <a:rPr sz="2000" spc="-10" dirty="0">
                <a:solidFill>
                  <a:srgbClr val="FFFFFF"/>
                </a:solidFill>
                <a:latin typeface="Calibri Light"/>
                <a:cs typeface="Calibri Light"/>
              </a:rPr>
              <a:t>gender?</a:t>
            </a:r>
            <a:endParaRPr sz="2000" dirty="0">
              <a:latin typeface="Calibri Light"/>
              <a:cs typeface="Calibri Light"/>
            </a:endParaRPr>
          </a:p>
          <a:p>
            <a:pPr marL="240665" indent="-227965">
              <a:lnSpc>
                <a:spcPct val="100000"/>
              </a:lnSpc>
              <a:spcBef>
                <a:spcPts val="770"/>
              </a:spcBef>
              <a:buFont typeface="Arial MT"/>
              <a:buChar char="•"/>
              <a:tabLst>
                <a:tab pos="240665" algn="l"/>
              </a:tabLst>
            </a:pPr>
            <a:r>
              <a:rPr sz="2000" spc="-135" dirty="0">
                <a:solidFill>
                  <a:srgbClr val="FFFFFF"/>
                </a:solidFill>
                <a:latin typeface="Calibri Light"/>
                <a:cs typeface="Calibri Light"/>
              </a:rPr>
              <a:t>What</a:t>
            </a:r>
            <a:r>
              <a:rPr sz="2000" spc="-280" dirty="0">
                <a:solidFill>
                  <a:srgbClr val="FFFFFF"/>
                </a:solidFill>
                <a:latin typeface="Calibri Light"/>
                <a:cs typeface="Calibri Light"/>
              </a:rPr>
              <a:t> </a:t>
            </a:r>
            <a:r>
              <a:rPr sz="2000" spc="-85" dirty="0">
                <a:solidFill>
                  <a:srgbClr val="FFFFFF"/>
                </a:solidFill>
                <a:latin typeface="Calibri Light"/>
                <a:cs typeface="Calibri Light"/>
              </a:rPr>
              <a:t>is</a:t>
            </a:r>
            <a:r>
              <a:rPr sz="2000" spc="-285" dirty="0">
                <a:solidFill>
                  <a:srgbClr val="FFFFFF"/>
                </a:solidFill>
                <a:latin typeface="Calibri Light"/>
                <a:cs typeface="Calibri Light"/>
              </a:rPr>
              <a:t> </a:t>
            </a:r>
            <a:r>
              <a:rPr sz="2000" spc="-114" dirty="0">
                <a:solidFill>
                  <a:srgbClr val="FFFFFF"/>
                </a:solidFill>
                <a:latin typeface="Calibri Light"/>
                <a:cs typeface="Calibri Light"/>
              </a:rPr>
              <a:t>the</a:t>
            </a:r>
            <a:r>
              <a:rPr sz="2000" spc="-270" dirty="0">
                <a:solidFill>
                  <a:srgbClr val="FFFFFF"/>
                </a:solidFill>
                <a:latin typeface="Calibri Light"/>
                <a:cs typeface="Calibri Light"/>
              </a:rPr>
              <a:t> </a:t>
            </a:r>
            <a:r>
              <a:rPr sz="2000" spc="-140" dirty="0">
                <a:solidFill>
                  <a:srgbClr val="FFFFFF"/>
                </a:solidFill>
                <a:latin typeface="Calibri Light"/>
                <a:cs typeface="Calibri Light"/>
              </a:rPr>
              <a:t>chance</a:t>
            </a:r>
            <a:r>
              <a:rPr sz="2000" spc="-280" dirty="0">
                <a:solidFill>
                  <a:srgbClr val="FFFFFF"/>
                </a:solidFill>
                <a:latin typeface="Calibri Light"/>
                <a:cs typeface="Calibri Light"/>
              </a:rPr>
              <a:t> </a:t>
            </a:r>
            <a:r>
              <a:rPr sz="2000" spc="-90" dirty="0">
                <a:solidFill>
                  <a:srgbClr val="FFFFFF"/>
                </a:solidFill>
                <a:latin typeface="Calibri Light"/>
                <a:cs typeface="Calibri Light"/>
              </a:rPr>
              <a:t>of</a:t>
            </a:r>
            <a:r>
              <a:rPr sz="2000" spc="-285" dirty="0">
                <a:solidFill>
                  <a:srgbClr val="FFFFFF"/>
                </a:solidFill>
                <a:latin typeface="Calibri Light"/>
                <a:cs typeface="Calibri Light"/>
              </a:rPr>
              <a:t> </a:t>
            </a:r>
            <a:r>
              <a:rPr sz="2000" spc="-125" dirty="0">
                <a:solidFill>
                  <a:srgbClr val="FFFFFF"/>
                </a:solidFill>
                <a:latin typeface="Calibri Light"/>
                <a:cs typeface="Calibri Light"/>
              </a:rPr>
              <a:t>churn</a:t>
            </a:r>
            <a:r>
              <a:rPr sz="2000" spc="-285" dirty="0">
                <a:solidFill>
                  <a:srgbClr val="FFFFFF"/>
                </a:solidFill>
                <a:latin typeface="Calibri Light"/>
                <a:cs typeface="Calibri Light"/>
              </a:rPr>
              <a:t> </a:t>
            </a:r>
            <a:r>
              <a:rPr sz="2000" spc="-135" dirty="0">
                <a:solidFill>
                  <a:srgbClr val="FFFFFF"/>
                </a:solidFill>
                <a:latin typeface="Calibri Light"/>
                <a:cs typeface="Calibri Light"/>
              </a:rPr>
              <a:t>based</a:t>
            </a:r>
            <a:r>
              <a:rPr sz="2000" spc="-295" dirty="0">
                <a:solidFill>
                  <a:srgbClr val="FFFFFF"/>
                </a:solidFill>
                <a:latin typeface="Calibri Light"/>
                <a:cs typeface="Calibri Light"/>
              </a:rPr>
              <a:t> </a:t>
            </a:r>
            <a:r>
              <a:rPr sz="2000" spc="-80" dirty="0">
                <a:solidFill>
                  <a:srgbClr val="FFFFFF"/>
                </a:solidFill>
                <a:latin typeface="Calibri Light"/>
                <a:cs typeface="Calibri Light"/>
              </a:rPr>
              <a:t>on</a:t>
            </a:r>
            <a:r>
              <a:rPr sz="2000" spc="-280" dirty="0">
                <a:solidFill>
                  <a:srgbClr val="FFFFFF"/>
                </a:solidFill>
                <a:latin typeface="Calibri Light"/>
                <a:cs typeface="Calibri Light"/>
              </a:rPr>
              <a:t> </a:t>
            </a:r>
            <a:r>
              <a:rPr sz="2000" spc="-50" dirty="0">
                <a:solidFill>
                  <a:srgbClr val="FFFFFF"/>
                </a:solidFill>
                <a:latin typeface="Calibri Light"/>
                <a:cs typeface="Calibri Light"/>
              </a:rPr>
              <a:t>dependents?</a:t>
            </a:r>
            <a:endParaRPr sz="2000" dirty="0">
              <a:latin typeface="Calibri Light"/>
              <a:cs typeface="Calibri Light"/>
            </a:endParaRPr>
          </a:p>
          <a:p>
            <a:pPr marL="240665" indent="-227965">
              <a:lnSpc>
                <a:spcPct val="100000"/>
              </a:lnSpc>
              <a:spcBef>
                <a:spcPts val="755"/>
              </a:spcBef>
              <a:buFont typeface="Arial MT"/>
              <a:buChar char="•"/>
              <a:tabLst>
                <a:tab pos="240665" algn="l"/>
              </a:tabLst>
            </a:pPr>
            <a:r>
              <a:rPr sz="2000" spc="-135" dirty="0">
                <a:solidFill>
                  <a:srgbClr val="FFFFFF"/>
                </a:solidFill>
                <a:latin typeface="Calibri Light"/>
                <a:cs typeface="Calibri Light"/>
              </a:rPr>
              <a:t>What</a:t>
            </a:r>
            <a:r>
              <a:rPr sz="2000" spc="-275" dirty="0">
                <a:solidFill>
                  <a:srgbClr val="FFFFFF"/>
                </a:solidFill>
                <a:latin typeface="Calibri Light"/>
                <a:cs typeface="Calibri Light"/>
              </a:rPr>
              <a:t> </a:t>
            </a:r>
            <a:r>
              <a:rPr sz="2000" spc="-85" dirty="0">
                <a:solidFill>
                  <a:srgbClr val="FFFFFF"/>
                </a:solidFill>
                <a:latin typeface="Calibri Light"/>
                <a:cs typeface="Calibri Light"/>
              </a:rPr>
              <a:t>is</a:t>
            </a:r>
            <a:r>
              <a:rPr sz="2000" spc="-285" dirty="0">
                <a:solidFill>
                  <a:srgbClr val="FFFFFF"/>
                </a:solidFill>
                <a:latin typeface="Calibri Light"/>
                <a:cs typeface="Calibri Light"/>
              </a:rPr>
              <a:t> </a:t>
            </a:r>
            <a:r>
              <a:rPr sz="2000" spc="-114" dirty="0">
                <a:solidFill>
                  <a:srgbClr val="FFFFFF"/>
                </a:solidFill>
                <a:latin typeface="Calibri Light"/>
                <a:cs typeface="Calibri Light"/>
              </a:rPr>
              <a:t>the</a:t>
            </a:r>
            <a:r>
              <a:rPr sz="2000" spc="-265" dirty="0">
                <a:solidFill>
                  <a:srgbClr val="FFFFFF"/>
                </a:solidFill>
                <a:latin typeface="Calibri Light"/>
                <a:cs typeface="Calibri Light"/>
              </a:rPr>
              <a:t> </a:t>
            </a:r>
            <a:r>
              <a:rPr sz="2000" spc="-140" dirty="0">
                <a:solidFill>
                  <a:srgbClr val="FFFFFF"/>
                </a:solidFill>
                <a:latin typeface="Calibri Light"/>
                <a:cs typeface="Calibri Light"/>
              </a:rPr>
              <a:t>chance</a:t>
            </a:r>
            <a:r>
              <a:rPr sz="2000" spc="-280" dirty="0">
                <a:solidFill>
                  <a:srgbClr val="FFFFFF"/>
                </a:solidFill>
                <a:latin typeface="Calibri Light"/>
                <a:cs typeface="Calibri Light"/>
              </a:rPr>
              <a:t> </a:t>
            </a:r>
            <a:r>
              <a:rPr sz="2000" spc="-90" dirty="0">
                <a:solidFill>
                  <a:srgbClr val="FFFFFF"/>
                </a:solidFill>
                <a:latin typeface="Calibri Light"/>
                <a:cs typeface="Calibri Light"/>
              </a:rPr>
              <a:t>of</a:t>
            </a:r>
            <a:r>
              <a:rPr sz="2000" spc="-285" dirty="0">
                <a:solidFill>
                  <a:srgbClr val="FFFFFF"/>
                </a:solidFill>
                <a:latin typeface="Calibri Light"/>
                <a:cs typeface="Calibri Light"/>
              </a:rPr>
              <a:t> </a:t>
            </a:r>
            <a:r>
              <a:rPr sz="2000" spc="-125" dirty="0">
                <a:solidFill>
                  <a:srgbClr val="FFFFFF"/>
                </a:solidFill>
                <a:latin typeface="Calibri Light"/>
                <a:cs typeface="Calibri Light"/>
              </a:rPr>
              <a:t>churn</a:t>
            </a:r>
            <a:r>
              <a:rPr sz="2000" spc="-280" dirty="0">
                <a:solidFill>
                  <a:srgbClr val="FFFFFF"/>
                </a:solidFill>
                <a:latin typeface="Calibri Light"/>
                <a:cs typeface="Calibri Light"/>
              </a:rPr>
              <a:t> </a:t>
            </a:r>
            <a:r>
              <a:rPr sz="2000" spc="-135" dirty="0">
                <a:solidFill>
                  <a:srgbClr val="FFFFFF"/>
                </a:solidFill>
                <a:latin typeface="Calibri Light"/>
                <a:cs typeface="Calibri Light"/>
              </a:rPr>
              <a:t>based</a:t>
            </a:r>
            <a:r>
              <a:rPr sz="2000" spc="-295" dirty="0">
                <a:solidFill>
                  <a:srgbClr val="FFFFFF"/>
                </a:solidFill>
                <a:latin typeface="Calibri Light"/>
                <a:cs typeface="Calibri Light"/>
              </a:rPr>
              <a:t> </a:t>
            </a:r>
            <a:r>
              <a:rPr sz="2000" spc="-80" dirty="0">
                <a:solidFill>
                  <a:srgbClr val="FFFFFF"/>
                </a:solidFill>
                <a:latin typeface="Calibri Light"/>
                <a:cs typeface="Calibri Light"/>
              </a:rPr>
              <a:t>on</a:t>
            </a:r>
            <a:r>
              <a:rPr sz="2000" spc="-280" dirty="0">
                <a:solidFill>
                  <a:srgbClr val="FFFFFF"/>
                </a:solidFill>
                <a:latin typeface="Calibri Light"/>
                <a:cs typeface="Calibri Light"/>
              </a:rPr>
              <a:t> </a:t>
            </a:r>
            <a:r>
              <a:rPr sz="2000" spc="-140" dirty="0">
                <a:solidFill>
                  <a:srgbClr val="FFFFFF"/>
                </a:solidFill>
                <a:latin typeface="Calibri Light"/>
                <a:cs typeface="Calibri Light"/>
              </a:rPr>
              <a:t>device</a:t>
            </a:r>
            <a:r>
              <a:rPr sz="2000" spc="-270" dirty="0">
                <a:solidFill>
                  <a:srgbClr val="FFFFFF"/>
                </a:solidFill>
                <a:latin typeface="Calibri Light"/>
                <a:cs typeface="Calibri Light"/>
              </a:rPr>
              <a:t> </a:t>
            </a:r>
            <a:r>
              <a:rPr sz="2000" spc="-55" dirty="0">
                <a:solidFill>
                  <a:srgbClr val="FFFFFF"/>
                </a:solidFill>
                <a:latin typeface="Calibri Light"/>
                <a:cs typeface="Calibri Light"/>
              </a:rPr>
              <a:t>protection?</a:t>
            </a:r>
            <a:endParaRPr sz="2000" dirty="0">
              <a:latin typeface="Calibri Light"/>
              <a:cs typeface="Calibri Light"/>
            </a:endParaRPr>
          </a:p>
        </p:txBody>
      </p:sp>
      <p:sp>
        <p:nvSpPr>
          <p:cNvPr id="6" name="object 6"/>
          <p:cNvSpPr/>
          <p:nvPr/>
        </p:nvSpPr>
        <p:spPr>
          <a:xfrm>
            <a:off x="-2458" y="0"/>
            <a:ext cx="12192000" cy="1143000"/>
          </a:xfrm>
          <a:custGeom>
            <a:avLst/>
            <a:gdLst/>
            <a:ahLst/>
            <a:cxnLst/>
            <a:rect l="l" t="t" r="r" b="b"/>
            <a:pathLst>
              <a:path w="4295140" h="1588135">
                <a:moveTo>
                  <a:pt x="4294632" y="0"/>
                </a:moveTo>
                <a:lnTo>
                  <a:pt x="0" y="0"/>
                </a:lnTo>
                <a:lnTo>
                  <a:pt x="0" y="1588008"/>
                </a:lnTo>
                <a:lnTo>
                  <a:pt x="4294632" y="1588008"/>
                </a:lnTo>
                <a:lnTo>
                  <a:pt x="4294632" y="0"/>
                </a:lnTo>
                <a:close/>
              </a:path>
            </a:pathLst>
          </a:custGeom>
          <a:solidFill>
            <a:srgbClr val="0E3954"/>
          </a:solidFill>
        </p:spPr>
        <p:txBody>
          <a:bodyPr wrap="square" lIns="0" tIns="0" rIns="0" bIns="0" rtlCol="0"/>
          <a:lstStyle/>
          <a:p>
            <a:endParaRPr dirty="0"/>
          </a:p>
        </p:txBody>
      </p:sp>
      <p:sp>
        <p:nvSpPr>
          <p:cNvPr id="7" name="object 7"/>
          <p:cNvSpPr txBox="1">
            <a:spLocks noGrp="1"/>
          </p:cNvSpPr>
          <p:nvPr>
            <p:ph type="title"/>
          </p:nvPr>
        </p:nvSpPr>
        <p:spPr>
          <a:xfrm>
            <a:off x="205028" y="127952"/>
            <a:ext cx="11781943" cy="633507"/>
          </a:xfrm>
          <a:prstGeom prst="rect">
            <a:avLst/>
          </a:prstGeom>
        </p:spPr>
        <p:txBody>
          <a:bodyPr vert="horz" wrap="square" lIns="0" tIns="81280" rIns="0" bIns="0" rtlCol="0">
            <a:spAutoFit/>
          </a:bodyPr>
          <a:lstStyle/>
          <a:p>
            <a:pPr marL="12700" marR="5080">
              <a:lnSpc>
                <a:spcPts val="4320"/>
              </a:lnSpc>
              <a:spcBef>
                <a:spcPts val="640"/>
              </a:spcBef>
            </a:pPr>
            <a:r>
              <a:rPr lang="en-IN" dirty="0"/>
              <a:t>Data Cleaning Steps</a:t>
            </a:r>
            <a:endParaRPr spc="-10" dirty="0"/>
          </a:p>
        </p:txBody>
      </p:sp>
      <p:sp>
        <p:nvSpPr>
          <p:cNvPr id="9" name="TextBox 8">
            <a:extLst>
              <a:ext uri="{FF2B5EF4-FFF2-40B4-BE49-F238E27FC236}">
                <a16:creationId xmlns:a16="http://schemas.microsoft.com/office/drawing/2014/main" id="{6B193453-E5B8-046A-B26E-95CF589676A1}"/>
              </a:ext>
            </a:extLst>
          </p:cNvPr>
          <p:cNvSpPr txBox="1"/>
          <p:nvPr/>
        </p:nvSpPr>
        <p:spPr>
          <a:xfrm>
            <a:off x="76200" y="1371600"/>
            <a:ext cx="12113342" cy="923330"/>
          </a:xfrm>
          <a:prstGeom prst="rect">
            <a:avLst/>
          </a:prstGeom>
          <a:noFill/>
        </p:spPr>
        <p:txBody>
          <a:bodyPr wrap="square">
            <a:spAutoFit/>
          </a:bodyPr>
          <a:lstStyle/>
          <a:p>
            <a:r>
              <a:rPr lang="en-US" dirty="0"/>
              <a:t>Data cleaning involved handling null values in monthly charges and total charges, converting data types, creating tenure groups, filtering churned customers, and preparing the dataset for analysis. These steps ensured accurate and meaningful insights.</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914400"/>
          </a:xfrm>
          <a:custGeom>
            <a:avLst/>
            <a:gdLst/>
            <a:ahLst/>
            <a:cxnLst/>
            <a:rect l="l" t="t" r="r" b="b"/>
            <a:pathLst>
              <a:path w="4745990" h="3429000">
                <a:moveTo>
                  <a:pt x="4745736" y="0"/>
                </a:moveTo>
                <a:lnTo>
                  <a:pt x="0" y="0"/>
                </a:lnTo>
                <a:lnTo>
                  <a:pt x="0" y="3429000"/>
                </a:lnTo>
                <a:lnTo>
                  <a:pt x="4745736" y="3429000"/>
                </a:lnTo>
                <a:lnTo>
                  <a:pt x="4745736" y="0"/>
                </a:lnTo>
                <a:close/>
              </a:path>
            </a:pathLst>
          </a:custGeom>
          <a:solidFill>
            <a:srgbClr val="0E3954"/>
          </a:solidFill>
        </p:spPr>
        <p:txBody>
          <a:bodyPr wrap="square" lIns="0" tIns="0" rIns="0" bIns="0" rtlCol="0"/>
          <a:lstStyle/>
          <a:p>
            <a:endParaRPr/>
          </a:p>
        </p:txBody>
      </p:sp>
      <p:sp>
        <p:nvSpPr>
          <p:cNvPr id="3" name="object 3"/>
          <p:cNvSpPr txBox="1"/>
          <p:nvPr/>
        </p:nvSpPr>
        <p:spPr>
          <a:xfrm>
            <a:off x="12290" y="152400"/>
            <a:ext cx="11366500" cy="627736"/>
          </a:xfrm>
          <a:prstGeom prst="rect">
            <a:avLst/>
          </a:prstGeom>
        </p:spPr>
        <p:txBody>
          <a:bodyPr vert="horz" wrap="square" lIns="0" tIns="73025" rIns="0" bIns="0" rtlCol="0">
            <a:spAutoFit/>
          </a:bodyPr>
          <a:lstStyle/>
          <a:p>
            <a:pPr marL="12700" marR="5080" algn="just">
              <a:lnSpc>
                <a:spcPct val="90000"/>
              </a:lnSpc>
              <a:spcBef>
                <a:spcPts val="575"/>
              </a:spcBef>
            </a:pPr>
            <a:r>
              <a:rPr lang="en-IN" sz="4000" dirty="0">
                <a:solidFill>
                  <a:schemeClr val="bg1"/>
                </a:solidFill>
              </a:rPr>
              <a:t>Overall Churn Summary</a:t>
            </a:r>
            <a:endParaRPr sz="4000" dirty="0">
              <a:solidFill>
                <a:schemeClr val="bg1"/>
              </a:solidFill>
              <a:latin typeface="Corbel"/>
              <a:cs typeface="Corbel"/>
            </a:endParaRPr>
          </a:p>
        </p:txBody>
      </p:sp>
      <p:sp>
        <p:nvSpPr>
          <p:cNvPr id="6" name="TextBox 5">
            <a:extLst>
              <a:ext uri="{FF2B5EF4-FFF2-40B4-BE49-F238E27FC236}">
                <a16:creationId xmlns:a16="http://schemas.microsoft.com/office/drawing/2014/main" id="{D5738426-1F56-5798-1887-5E9F2AC2CFA6}"/>
              </a:ext>
            </a:extLst>
          </p:cNvPr>
          <p:cNvSpPr txBox="1"/>
          <p:nvPr/>
        </p:nvSpPr>
        <p:spPr>
          <a:xfrm>
            <a:off x="12290" y="1066800"/>
            <a:ext cx="12192000" cy="923330"/>
          </a:xfrm>
          <a:prstGeom prst="rect">
            <a:avLst/>
          </a:prstGeom>
          <a:noFill/>
        </p:spPr>
        <p:txBody>
          <a:bodyPr wrap="square">
            <a:spAutoFit/>
          </a:bodyPr>
          <a:lstStyle/>
          <a:p>
            <a:r>
              <a:rPr lang="en-US" dirty="0"/>
              <a:t>The dashboard shows that out of 5000 customers, 1325 have churned, resulting in a churn rate of </a:t>
            </a:r>
            <a:r>
              <a:rPr lang="en-US" b="1" dirty="0"/>
              <a:t>26.5%</a:t>
            </a:r>
            <a:r>
              <a:rPr lang="en-US" dirty="0"/>
              <a:t>. This indicates that more than one-fourth of the total customers have left the service, which is a serious concern for the business.</a:t>
            </a:r>
            <a:endParaRPr lang="en-IN" dirty="0"/>
          </a:p>
        </p:txBody>
      </p:sp>
      <p:pic>
        <p:nvPicPr>
          <p:cNvPr id="8" name="Picture 7">
            <a:extLst>
              <a:ext uri="{FF2B5EF4-FFF2-40B4-BE49-F238E27FC236}">
                <a16:creationId xmlns:a16="http://schemas.microsoft.com/office/drawing/2014/main" id="{59C40EE1-B5C9-A6F2-0152-804E208B38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2142530"/>
            <a:ext cx="7230484" cy="433447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4979034"/>
            <a:ext cx="12192000" cy="1261884"/>
          </a:xfrm>
          <a:prstGeom prst="rect">
            <a:avLst/>
          </a:prstGeom>
        </p:spPr>
        <p:txBody>
          <a:bodyPr vert="horz" wrap="square" lIns="0" tIns="81280" rIns="0" bIns="0" rtlCol="0">
            <a:spAutoFit/>
          </a:bodyPr>
          <a:lstStyle/>
          <a:p>
            <a:pPr marL="2152650" marR="5080" indent="-2140585">
              <a:lnSpc>
                <a:spcPts val="4320"/>
              </a:lnSpc>
              <a:spcBef>
                <a:spcPts val="640"/>
              </a:spcBef>
            </a:pPr>
            <a:r>
              <a:rPr lang="en-IN" sz="4000" b="1" dirty="0"/>
              <a:t>Customers by Gender</a:t>
            </a:r>
          </a:p>
          <a:p>
            <a:pPr marL="2152650" marR="5080" indent="-2140585">
              <a:lnSpc>
                <a:spcPts val="4320"/>
              </a:lnSpc>
              <a:spcBef>
                <a:spcPts val="640"/>
              </a:spcBef>
            </a:pPr>
            <a:endParaRPr sz="4000" dirty="0">
              <a:latin typeface="Corbel"/>
              <a:cs typeface="Corbel"/>
            </a:endParaRPr>
          </a:p>
        </p:txBody>
      </p:sp>
      <p:sp>
        <p:nvSpPr>
          <p:cNvPr id="8" name="Title 7">
            <a:extLst>
              <a:ext uri="{FF2B5EF4-FFF2-40B4-BE49-F238E27FC236}">
                <a16:creationId xmlns:a16="http://schemas.microsoft.com/office/drawing/2014/main" id="{53987BC5-0EB2-1D42-93B4-4A0EDBDAE71A}"/>
              </a:ext>
            </a:extLst>
          </p:cNvPr>
          <p:cNvSpPr>
            <a:spLocks noGrp="1"/>
          </p:cNvSpPr>
          <p:nvPr>
            <p:ph type="title"/>
          </p:nvPr>
        </p:nvSpPr>
        <p:spPr>
          <a:xfrm>
            <a:off x="6096000" y="60960"/>
            <a:ext cx="6096000" cy="3939540"/>
          </a:xfrm>
        </p:spPr>
        <p:txBody>
          <a:bodyPr/>
          <a:lstStyle/>
          <a:p>
            <a:r>
              <a:rPr lang="en-US" sz="3200" dirty="0">
                <a:solidFill>
                  <a:schemeClr val="tx1"/>
                </a:solidFill>
              </a:rPr>
              <a:t>The customer base is almost evenly split between male and female users. However, churn distribution is slightly higher among females. This suggests that gender has a mild impact, but it still contributes to overall churn behavior.</a:t>
            </a:r>
            <a:endParaRPr lang="en-IN" sz="3200" dirty="0">
              <a:solidFill>
                <a:schemeClr val="tx1"/>
              </a:solidFill>
            </a:endParaRPr>
          </a:p>
        </p:txBody>
      </p:sp>
      <p:pic>
        <p:nvPicPr>
          <p:cNvPr id="10" name="Picture 9">
            <a:extLst>
              <a:ext uri="{FF2B5EF4-FFF2-40B4-BE49-F238E27FC236}">
                <a16:creationId xmlns:a16="http://schemas.microsoft.com/office/drawing/2014/main" id="{B9C74C5C-4752-73F0-B869-AD8988043B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8" y="0"/>
            <a:ext cx="5717458" cy="4572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4979034"/>
            <a:ext cx="5943600" cy="633507"/>
          </a:xfrm>
          <a:prstGeom prst="rect">
            <a:avLst/>
          </a:prstGeom>
        </p:spPr>
        <p:txBody>
          <a:bodyPr vert="horz" wrap="square" lIns="0" tIns="81280" rIns="0" bIns="0" rtlCol="0">
            <a:spAutoFit/>
          </a:bodyPr>
          <a:lstStyle/>
          <a:p>
            <a:pPr marL="12065" marR="5080" indent="-1270" algn="ctr">
              <a:lnSpc>
                <a:spcPts val="4320"/>
              </a:lnSpc>
              <a:spcBef>
                <a:spcPts val="640"/>
              </a:spcBef>
            </a:pPr>
            <a:r>
              <a:rPr lang="en-IN" sz="4000" dirty="0"/>
              <a:t>Senior Citizen Distribution</a:t>
            </a:r>
            <a:endParaRPr sz="4000" dirty="0">
              <a:latin typeface="Corbel"/>
              <a:cs typeface="Corbel"/>
            </a:endParaRPr>
          </a:p>
        </p:txBody>
      </p:sp>
      <p:sp>
        <p:nvSpPr>
          <p:cNvPr id="4" name="object 4"/>
          <p:cNvSpPr txBox="1"/>
          <p:nvPr/>
        </p:nvSpPr>
        <p:spPr>
          <a:xfrm>
            <a:off x="11713884" y="1235202"/>
            <a:ext cx="200660" cy="299720"/>
          </a:xfrm>
          <a:prstGeom prst="rect">
            <a:avLst/>
          </a:prstGeom>
        </p:spPr>
        <p:txBody>
          <a:bodyPr vert="horz" wrap="square" lIns="0" tIns="12700" rIns="0" bIns="0" rtlCol="0">
            <a:spAutoFit/>
          </a:bodyPr>
          <a:lstStyle/>
          <a:p>
            <a:pPr marL="12700">
              <a:lnSpc>
                <a:spcPct val="100000"/>
              </a:lnSpc>
              <a:spcBef>
                <a:spcPts val="100"/>
              </a:spcBef>
            </a:pPr>
            <a:r>
              <a:rPr sz="1800" spc="-25" dirty="0">
                <a:latin typeface="Calibri Light"/>
                <a:cs typeface="Calibri Light"/>
              </a:rPr>
              <a:t>In</a:t>
            </a:r>
            <a:endParaRPr sz="1800">
              <a:latin typeface="Calibri Light"/>
              <a:cs typeface="Calibri Light"/>
            </a:endParaRPr>
          </a:p>
        </p:txBody>
      </p:sp>
      <p:pic>
        <p:nvPicPr>
          <p:cNvPr id="9" name="Picture 8">
            <a:extLst>
              <a:ext uri="{FF2B5EF4-FFF2-40B4-BE49-F238E27FC236}">
                <a16:creationId xmlns:a16="http://schemas.microsoft.com/office/drawing/2014/main" id="{84D6395B-436F-EA12-909A-DD72317764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943600" cy="4558651"/>
          </a:xfrm>
          <a:prstGeom prst="rect">
            <a:avLst/>
          </a:prstGeom>
        </p:spPr>
      </p:pic>
      <p:sp>
        <p:nvSpPr>
          <p:cNvPr id="11" name="TextBox 10">
            <a:extLst>
              <a:ext uri="{FF2B5EF4-FFF2-40B4-BE49-F238E27FC236}">
                <a16:creationId xmlns:a16="http://schemas.microsoft.com/office/drawing/2014/main" id="{2265BBCB-C235-B0BF-AE49-7B1ABA427C4E}"/>
              </a:ext>
            </a:extLst>
          </p:cNvPr>
          <p:cNvSpPr txBox="1"/>
          <p:nvPr/>
        </p:nvSpPr>
        <p:spPr>
          <a:xfrm>
            <a:off x="5562600" y="304800"/>
            <a:ext cx="6629400" cy="1477328"/>
          </a:xfrm>
          <a:prstGeom prst="rect">
            <a:avLst/>
          </a:prstGeom>
          <a:noFill/>
        </p:spPr>
        <p:txBody>
          <a:bodyPr wrap="square">
            <a:spAutoFit/>
          </a:bodyPr>
          <a:lstStyle/>
          <a:p>
            <a:r>
              <a:rPr lang="en-US" dirty="0"/>
              <a:t>Senior citizens represent a significant portion of the customer base. The churn rate among senior citizens is noticeably higher, possibly due to higher monthly charges or lack of technical support. Older customers require more service reliability and assistance.                                                                                                           </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6324600" y="381000"/>
            <a:ext cx="5751586" cy="1401666"/>
          </a:xfrm>
          <a:prstGeom prst="rect">
            <a:avLst/>
          </a:prstGeom>
        </p:spPr>
        <p:txBody>
          <a:bodyPr vert="horz" wrap="square" lIns="0" tIns="16510" rIns="0" bIns="0" rtlCol="0">
            <a:spAutoFit/>
          </a:bodyPr>
          <a:lstStyle/>
          <a:p>
            <a:pPr marL="12700">
              <a:lnSpc>
                <a:spcPct val="100000"/>
              </a:lnSpc>
              <a:spcBef>
                <a:spcPts val="130"/>
              </a:spcBef>
            </a:pPr>
            <a:r>
              <a:rPr lang="en-US" sz="1800" dirty="0">
                <a:solidFill>
                  <a:schemeClr val="tx1"/>
                </a:solidFill>
              </a:rPr>
              <a:t>Month-to-month contracts make up the largest portion of the dataset. These customers show the highest churn rate because short-term contracts provide flexibility to switch providers easily. Long-term contracts show more customer loyalty.</a:t>
            </a:r>
            <a:endParaRPr sz="1700" dirty="0">
              <a:solidFill>
                <a:schemeClr val="tx1"/>
              </a:solidFill>
              <a:latin typeface="Calibri Light"/>
              <a:cs typeface="Calibri Light"/>
            </a:endParaRPr>
          </a:p>
        </p:txBody>
      </p:sp>
      <p:sp>
        <p:nvSpPr>
          <p:cNvPr id="8" name="TextBox 7">
            <a:extLst>
              <a:ext uri="{FF2B5EF4-FFF2-40B4-BE49-F238E27FC236}">
                <a16:creationId xmlns:a16="http://schemas.microsoft.com/office/drawing/2014/main" id="{E77E99ED-E034-E5B0-2A37-B2012C8A4F36}"/>
              </a:ext>
            </a:extLst>
          </p:cNvPr>
          <p:cNvSpPr txBox="1"/>
          <p:nvPr/>
        </p:nvSpPr>
        <p:spPr>
          <a:xfrm>
            <a:off x="-10160" y="4648200"/>
            <a:ext cx="6096000" cy="646331"/>
          </a:xfrm>
          <a:prstGeom prst="rect">
            <a:avLst/>
          </a:prstGeom>
          <a:noFill/>
        </p:spPr>
        <p:txBody>
          <a:bodyPr wrap="square">
            <a:spAutoFit/>
          </a:bodyPr>
          <a:lstStyle/>
          <a:p>
            <a:r>
              <a:rPr lang="en-IN" sz="3600" dirty="0"/>
              <a:t>Customers by Contract Type</a:t>
            </a:r>
          </a:p>
        </p:txBody>
      </p:sp>
      <p:pic>
        <p:nvPicPr>
          <p:cNvPr id="10" name="Picture 9">
            <a:extLst>
              <a:ext uri="{FF2B5EF4-FFF2-40B4-BE49-F238E27FC236}">
                <a16:creationId xmlns:a16="http://schemas.microsoft.com/office/drawing/2014/main" id="{51EF9015-E891-0E8D-9A5F-B92DA26367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814" y="0"/>
            <a:ext cx="6096000" cy="4572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4800600"/>
            <a:ext cx="5410200" cy="633507"/>
          </a:xfrm>
          <a:prstGeom prst="rect">
            <a:avLst/>
          </a:prstGeom>
        </p:spPr>
        <p:txBody>
          <a:bodyPr vert="horz" wrap="square" lIns="0" tIns="81280" rIns="0" bIns="0" rtlCol="0">
            <a:spAutoFit/>
          </a:bodyPr>
          <a:lstStyle/>
          <a:p>
            <a:pPr marL="2219325" marR="5080" indent="-2207260">
              <a:lnSpc>
                <a:spcPts val="4320"/>
              </a:lnSpc>
              <a:spcBef>
                <a:spcPts val="640"/>
              </a:spcBef>
            </a:pPr>
            <a:r>
              <a:rPr lang="en-IN" sz="4000" dirty="0"/>
              <a:t>Total Charges Analysis</a:t>
            </a:r>
            <a:endParaRPr sz="4000" dirty="0">
              <a:latin typeface="Corbel"/>
              <a:cs typeface="Corbel"/>
            </a:endParaRPr>
          </a:p>
        </p:txBody>
      </p:sp>
      <p:sp>
        <p:nvSpPr>
          <p:cNvPr id="4" name="object 4"/>
          <p:cNvSpPr txBox="1">
            <a:spLocks noGrp="1"/>
          </p:cNvSpPr>
          <p:nvPr>
            <p:ph type="title"/>
          </p:nvPr>
        </p:nvSpPr>
        <p:spPr>
          <a:xfrm>
            <a:off x="5791201" y="239344"/>
            <a:ext cx="6163436" cy="1397819"/>
          </a:xfrm>
          <a:prstGeom prst="rect">
            <a:avLst/>
          </a:prstGeom>
        </p:spPr>
        <p:txBody>
          <a:bodyPr vert="horz" wrap="square" lIns="0" tIns="12700" rIns="0" bIns="0" rtlCol="0">
            <a:spAutoFit/>
          </a:bodyPr>
          <a:lstStyle/>
          <a:p>
            <a:pPr marL="12700">
              <a:lnSpc>
                <a:spcPct val="100000"/>
              </a:lnSpc>
              <a:spcBef>
                <a:spcPts val="100"/>
              </a:spcBef>
            </a:pPr>
            <a:r>
              <a:rPr lang="en-US" sz="1800" dirty="0">
                <a:solidFill>
                  <a:schemeClr val="tx1"/>
                </a:solidFill>
              </a:rPr>
              <a:t>Customers with lower total charges tend to churn more. This indicates that new or short-tenure customers are more likely to leave early, possibly due to dissatisfaction with early service experiences. Long-term users show more commitment.</a:t>
            </a:r>
            <a:endParaRPr sz="1800" dirty="0">
              <a:solidFill>
                <a:schemeClr val="tx1"/>
              </a:solidFill>
              <a:latin typeface="Calibri Light"/>
              <a:cs typeface="Calibri Light"/>
            </a:endParaRPr>
          </a:p>
        </p:txBody>
      </p:sp>
      <p:pic>
        <p:nvPicPr>
          <p:cNvPr id="8" name="Picture 7">
            <a:extLst>
              <a:ext uri="{FF2B5EF4-FFF2-40B4-BE49-F238E27FC236}">
                <a16:creationId xmlns:a16="http://schemas.microsoft.com/office/drawing/2014/main" id="{7D80537A-4E33-EA9B-A734-B654036F16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875" y="0"/>
            <a:ext cx="5668166" cy="40560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4648200"/>
            <a:ext cx="6358509" cy="627736"/>
          </a:xfrm>
          <a:prstGeom prst="rect">
            <a:avLst/>
          </a:prstGeom>
        </p:spPr>
        <p:txBody>
          <a:bodyPr vert="horz" wrap="square" lIns="0" tIns="12065" rIns="0" bIns="0" rtlCol="0">
            <a:spAutoFit/>
          </a:bodyPr>
          <a:lstStyle/>
          <a:p>
            <a:pPr marL="12700">
              <a:lnSpc>
                <a:spcPct val="100000"/>
              </a:lnSpc>
              <a:spcBef>
                <a:spcPts val="95"/>
              </a:spcBef>
            </a:pPr>
            <a:r>
              <a:rPr lang="en-IN" sz="4000" dirty="0"/>
              <a:t>Monthly Charges Analysis</a:t>
            </a:r>
            <a:endParaRPr sz="4000" dirty="0">
              <a:latin typeface="Corbel"/>
              <a:cs typeface="Corbel"/>
            </a:endParaRPr>
          </a:p>
        </p:txBody>
      </p:sp>
      <p:sp>
        <p:nvSpPr>
          <p:cNvPr id="8" name="Title 7">
            <a:extLst>
              <a:ext uri="{FF2B5EF4-FFF2-40B4-BE49-F238E27FC236}">
                <a16:creationId xmlns:a16="http://schemas.microsoft.com/office/drawing/2014/main" id="{4E02C26E-1086-9DD1-0A05-F058FAE1028A}"/>
              </a:ext>
            </a:extLst>
          </p:cNvPr>
          <p:cNvSpPr>
            <a:spLocks noGrp="1"/>
          </p:cNvSpPr>
          <p:nvPr>
            <p:ph type="title"/>
          </p:nvPr>
        </p:nvSpPr>
        <p:spPr>
          <a:xfrm>
            <a:off x="6358509" y="260349"/>
            <a:ext cx="5136515" cy="2215991"/>
          </a:xfrm>
        </p:spPr>
        <p:txBody>
          <a:bodyPr/>
          <a:lstStyle/>
          <a:p>
            <a:r>
              <a:rPr lang="en-US" sz="2400" dirty="0">
                <a:solidFill>
                  <a:schemeClr val="tx1"/>
                </a:solidFill>
              </a:rPr>
              <a:t>Customers with higher monthly charges churn more frequently. High pricing appears to be a major reason for churn. Reducing bill shock or offering discounts might help retain these customers.</a:t>
            </a:r>
            <a:endParaRPr lang="en-IN" sz="2400" dirty="0">
              <a:solidFill>
                <a:schemeClr val="tx1"/>
              </a:solidFill>
            </a:endParaRPr>
          </a:p>
        </p:txBody>
      </p:sp>
      <p:pic>
        <p:nvPicPr>
          <p:cNvPr id="10" name="Picture 9">
            <a:extLst>
              <a:ext uri="{FF2B5EF4-FFF2-40B4-BE49-F238E27FC236}">
                <a16:creationId xmlns:a16="http://schemas.microsoft.com/office/drawing/2014/main" id="{0795EE52-650F-B892-410F-101B4F12A2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5269"/>
            <a:ext cx="5096522" cy="41725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2E76700-F3E5-93E8-FD74-08EE0F32BD16}"/>
              </a:ext>
            </a:extLst>
          </p:cNvPr>
          <p:cNvSpPr txBox="1"/>
          <p:nvPr/>
        </p:nvSpPr>
        <p:spPr>
          <a:xfrm>
            <a:off x="0" y="4724400"/>
            <a:ext cx="9448800" cy="707886"/>
          </a:xfrm>
          <a:prstGeom prst="rect">
            <a:avLst/>
          </a:prstGeom>
          <a:noFill/>
        </p:spPr>
        <p:txBody>
          <a:bodyPr wrap="square">
            <a:spAutoFit/>
          </a:bodyPr>
          <a:lstStyle/>
          <a:p>
            <a:r>
              <a:rPr lang="en-IN" sz="4000" dirty="0"/>
              <a:t>Tenure Bins Overview</a:t>
            </a:r>
          </a:p>
        </p:txBody>
      </p:sp>
      <p:pic>
        <p:nvPicPr>
          <p:cNvPr id="8" name="Picture 7">
            <a:extLst>
              <a:ext uri="{FF2B5EF4-FFF2-40B4-BE49-F238E27FC236}">
                <a16:creationId xmlns:a16="http://schemas.microsoft.com/office/drawing/2014/main" id="{4D2D0B00-EC32-446D-6B46-D7F57C845B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172200" cy="4572000"/>
          </a:xfrm>
          <a:prstGeom prst="rect">
            <a:avLst/>
          </a:prstGeom>
        </p:spPr>
      </p:pic>
      <p:sp>
        <p:nvSpPr>
          <p:cNvPr id="10" name="TextBox 9">
            <a:extLst>
              <a:ext uri="{FF2B5EF4-FFF2-40B4-BE49-F238E27FC236}">
                <a16:creationId xmlns:a16="http://schemas.microsoft.com/office/drawing/2014/main" id="{23C1F304-AEF4-30E8-07B5-EEB66A02F308}"/>
              </a:ext>
            </a:extLst>
          </p:cNvPr>
          <p:cNvSpPr txBox="1"/>
          <p:nvPr/>
        </p:nvSpPr>
        <p:spPr>
          <a:xfrm>
            <a:off x="6096000" y="152400"/>
            <a:ext cx="6096000" cy="4247317"/>
          </a:xfrm>
          <a:prstGeom prst="rect">
            <a:avLst/>
          </a:prstGeom>
          <a:noFill/>
        </p:spPr>
        <p:txBody>
          <a:bodyPr wrap="square">
            <a:spAutoFit/>
          </a:bodyPr>
          <a:lstStyle/>
          <a:p>
            <a:pPr>
              <a:buNone/>
            </a:pPr>
            <a:r>
              <a:rPr lang="en-US" dirty="0"/>
              <a:t>The donut chart represents the distribution of customers across different tenure groups. The tenure has been divided into bins of 20 months, allowing us to easily understand how long customers have stayed with the company.</a:t>
            </a:r>
          </a:p>
          <a:p>
            <a:pPr>
              <a:buFont typeface="Arial" panose="020B0604020202020204" pitchFamily="34" charset="0"/>
              <a:buChar char="•"/>
            </a:pPr>
            <a:r>
              <a:rPr lang="en-US" b="1" dirty="0"/>
              <a:t>0–20 Months:</a:t>
            </a:r>
            <a:r>
              <a:rPr lang="en-US" dirty="0"/>
              <a:t> </a:t>
            </a:r>
            <a:r>
              <a:rPr lang="en-US" i="1" dirty="0"/>
              <a:t>Largest segment</a:t>
            </a:r>
            <a:r>
              <a:rPr lang="en-US" dirty="0"/>
              <a:t> (approx. 28%)</a:t>
            </a:r>
            <a:br>
              <a:rPr lang="en-US" dirty="0"/>
            </a:br>
            <a:r>
              <a:rPr lang="en-US" dirty="0"/>
              <a:t>These customers are new and have a higher tendency to churn.</a:t>
            </a:r>
          </a:p>
          <a:p>
            <a:pPr>
              <a:buFont typeface="Arial" panose="020B0604020202020204" pitchFamily="34" charset="0"/>
              <a:buChar char="•"/>
            </a:pPr>
            <a:r>
              <a:rPr lang="en-US" b="1" dirty="0"/>
              <a:t>21–40 Months:</a:t>
            </a:r>
            <a:r>
              <a:rPr lang="en-US" dirty="0"/>
              <a:t> Second largest group (~27.8%).</a:t>
            </a:r>
            <a:br>
              <a:rPr lang="en-US" dirty="0"/>
            </a:br>
            <a:r>
              <a:rPr lang="en-US" dirty="0"/>
              <a:t>These are moderately engaged customers.</a:t>
            </a:r>
          </a:p>
          <a:p>
            <a:pPr>
              <a:buFont typeface="Arial" panose="020B0604020202020204" pitchFamily="34" charset="0"/>
              <a:buChar char="•"/>
            </a:pPr>
            <a:r>
              <a:rPr lang="en-US" b="1" dirty="0"/>
              <a:t>41–60 Months:</a:t>
            </a:r>
            <a:r>
              <a:rPr lang="en-US" dirty="0"/>
              <a:t> (~27.5%)</a:t>
            </a:r>
            <a:br>
              <a:rPr lang="en-US" dirty="0"/>
            </a:br>
            <a:r>
              <a:rPr lang="en-US" dirty="0"/>
              <a:t>Customers in this range have medium engagement and lower churn probability.</a:t>
            </a:r>
          </a:p>
          <a:p>
            <a:pPr>
              <a:buFont typeface="Arial" panose="020B0604020202020204" pitchFamily="34" charset="0"/>
              <a:buChar char="•"/>
            </a:pPr>
            <a:r>
              <a:rPr lang="en-US" b="1" dirty="0"/>
              <a:t>61–80 Months:</a:t>
            </a:r>
            <a:r>
              <a:rPr lang="en-US" dirty="0"/>
              <a:t> Smallest group (~16%).</a:t>
            </a:r>
            <a:br>
              <a:rPr lang="en-US" dirty="0"/>
            </a:br>
            <a:r>
              <a:rPr lang="en-US" dirty="0"/>
              <a:t>Long-term loyal customers who are least likely to churn.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0A19FAA-22C8-DEBE-5F92-A93350ABAEB6}"/>
              </a:ext>
            </a:extLst>
          </p:cNvPr>
          <p:cNvSpPr txBox="1"/>
          <p:nvPr/>
        </p:nvSpPr>
        <p:spPr>
          <a:xfrm>
            <a:off x="15240" y="4800600"/>
            <a:ext cx="6096000" cy="707886"/>
          </a:xfrm>
          <a:prstGeom prst="rect">
            <a:avLst/>
          </a:prstGeom>
          <a:noFill/>
        </p:spPr>
        <p:txBody>
          <a:bodyPr wrap="square">
            <a:spAutoFit/>
          </a:bodyPr>
          <a:lstStyle/>
          <a:p>
            <a:r>
              <a:rPr lang="en-IN" sz="4000" dirty="0"/>
              <a:t>Internet Service Analysis</a:t>
            </a:r>
          </a:p>
        </p:txBody>
      </p:sp>
      <p:pic>
        <p:nvPicPr>
          <p:cNvPr id="8" name="Picture 7">
            <a:extLst>
              <a:ext uri="{FF2B5EF4-FFF2-40B4-BE49-F238E27FC236}">
                <a16:creationId xmlns:a16="http://schemas.microsoft.com/office/drawing/2014/main" id="{9ABBD600-07F8-3E46-8AC3-66298C19B6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867400" cy="4572000"/>
          </a:xfrm>
          <a:prstGeom prst="rect">
            <a:avLst/>
          </a:prstGeom>
        </p:spPr>
      </p:pic>
      <p:sp>
        <p:nvSpPr>
          <p:cNvPr id="10" name="TextBox 9">
            <a:extLst>
              <a:ext uri="{FF2B5EF4-FFF2-40B4-BE49-F238E27FC236}">
                <a16:creationId xmlns:a16="http://schemas.microsoft.com/office/drawing/2014/main" id="{810B1FF6-66AD-08DD-A2FB-8B15FCD250E4}"/>
              </a:ext>
            </a:extLst>
          </p:cNvPr>
          <p:cNvSpPr txBox="1"/>
          <p:nvPr/>
        </p:nvSpPr>
        <p:spPr>
          <a:xfrm>
            <a:off x="5867400" y="149185"/>
            <a:ext cx="6197600" cy="1200329"/>
          </a:xfrm>
          <a:prstGeom prst="rect">
            <a:avLst/>
          </a:prstGeom>
          <a:noFill/>
        </p:spPr>
        <p:txBody>
          <a:bodyPr wrap="square">
            <a:spAutoFit/>
          </a:bodyPr>
          <a:lstStyle/>
          <a:p>
            <a:r>
              <a:rPr lang="en-US" dirty="0"/>
              <a:t>Fiber optic customers contribute the most to churn. This could be due to higher pricing or unstable service quality. DSL users show lower churn, and users without internet service churn least.</a:t>
            </a:r>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400" y="4701295"/>
            <a:ext cx="9259570" cy="1261884"/>
          </a:xfrm>
          <a:prstGeom prst="rect">
            <a:avLst/>
          </a:prstGeom>
        </p:spPr>
        <p:txBody>
          <a:bodyPr vert="horz" wrap="square" lIns="0" tIns="81280" rIns="0" bIns="0" rtlCol="0">
            <a:spAutoFit/>
          </a:bodyPr>
          <a:lstStyle/>
          <a:p>
            <a:pPr marL="1167765" marR="5080" indent="-1155700">
              <a:lnSpc>
                <a:spcPts val="4320"/>
              </a:lnSpc>
              <a:spcBef>
                <a:spcPts val="640"/>
              </a:spcBef>
            </a:pPr>
            <a:r>
              <a:rPr lang="en-IN" sz="4000" b="1" dirty="0"/>
              <a:t>Payment Method Analysis</a:t>
            </a:r>
          </a:p>
          <a:p>
            <a:pPr marL="1167765" marR="5080" indent="-1155700">
              <a:lnSpc>
                <a:spcPts val="4320"/>
              </a:lnSpc>
              <a:spcBef>
                <a:spcPts val="640"/>
              </a:spcBef>
            </a:pPr>
            <a:endParaRPr sz="4000" dirty="0">
              <a:latin typeface="Corbel"/>
              <a:cs typeface="Corbel"/>
            </a:endParaRPr>
          </a:p>
        </p:txBody>
      </p:sp>
      <p:pic>
        <p:nvPicPr>
          <p:cNvPr id="6" name="Picture 5">
            <a:extLst>
              <a:ext uri="{FF2B5EF4-FFF2-40B4-BE49-F238E27FC236}">
                <a16:creationId xmlns:a16="http://schemas.microsoft.com/office/drawing/2014/main" id="{564CDF38-D826-9CEE-B2C2-49ADFCFE51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20" y="25400"/>
            <a:ext cx="6380480" cy="4546600"/>
          </a:xfrm>
          <a:prstGeom prst="rect">
            <a:avLst/>
          </a:prstGeom>
        </p:spPr>
      </p:pic>
      <p:sp>
        <p:nvSpPr>
          <p:cNvPr id="8" name="TextBox 7">
            <a:extLst>
              <a:ext uri="{FF2B5EF4-FFF2-40B4-BE49-F238E27FC236}">
                <a16:creationId xmlns:a16="http://schemas.microsoft.com/office/drawing/2014/main" id="{0435AF09-9DCD-3728-20B1-0AA4DE143EEA}"/>
              </a:ext>
            </a:extLst>
          </p:cNvPr>
          <p:cNvSpPr txBox="1"/>
          <p:nvPr/>
        </p:nvSpPr>
        <p:spPr>
          <a:xfrm>
            <a:off x="6096000" y="30480"/>
            <a:ext cx="6167120" cy="1200329"/>
          </a:xfrm>
          <a:prstGeom prst="rect">
            <a:avLst/>
          </a:prstGeom>
          <a:noFill/>
        </p:spPr>
        <p:txBody>
          <a:bodyPr wrap="square">
            <a:spAutoFit/>
          </a:bodyPr>
          <a:lstStyle/>
          <a:p>
            <a:r>
              <a:rPr lang="en-US" dirty="0"/>
              <a:t>Electronic check users show the </a:t>
            </a:r>
            <a:r>
              <a:rPr lang="en-US" b="1" dirty="0"/>
              <a:t>highest churn</a:t>
            </a:r>
            <a:r>
              <a:rPr lang="en-US" dirty="0"/>
              <a:t>, likely because this manual payment method results in irregular billing experiences. Customers using automatic payments (credit card, bank transfer) churn less due to convenience.</a:t>
            </a: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2843B4A-C55A-9985-D921-FE1BDF22A6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320"/>
            <a:ext cx="6400800" cy="4551680"/>
          </a:xfrm>
          <a:prstGeom prst="rect">
            <a:avLst/>
          </a:prstGeom>
        </p:spPr>
      </p:pic>
      <p:sp>
        <p:nvSpPr>
          <p:cNvPr id="8" name="TextBox 7">
            <a:extLst>
              <a:ext uri="{FF2B5EF4-FFF2-40B4-BE49-F238E27FC236}">
                <a16:creationId xmlns:a16="http://schemas.microsoft.com/office/drawing/2014/main" id="{D47BEC07-7003-AB6C-40D5-A5B5C1C24A93}"/>
              </a:ext>
            </a:extLst>
          </p:cNvPr>
          <p:cNvSpPr txBox="1"/>
          <p:nvPr/>
        </p:nvSpPr>
        <p:spPr>
          <a:xfrm>
            <a:off x="6085840" y="20320"/>
            <a:ext cx="6096000" cy="1754326"/>
          </a:xfrm>
          <a:prstGeom prst="rect">
            <a:avLst/>
          </a:prstGeom>
          <a:noFill/>
        </p:spPr>
        <p:txBody>
          <a:bodyPr wrap="square">
            <a:spAutoFit/>
          </a:bodyPr>
          <a:lstStyle/>
          <a:p>
            <a:r>
              <a:rPr lang="en-US" dirty="0"/>
              <a:t>The chart shows that customers who </a:t>
            </a:r>
            <a:r>
              <a:rPr lang="en-US" b="1" dirty="0"/>
              <a:t>do not use technical support</a:t>
            </a:r>
            <a:r>
              <a:rPr lang="en-US" dirty="0"/>
              <a:t> have a churn rate of more than </a:t>
            </a:r>
            <a:r>
              <a:rPr lang="en-US" b="1" dirty="0"/>
              <a:t>20%</a:t>
            </a:r>
            <a:r>
              <a:rPr lang="en-US" dirty="0"/>
              <a:t>, whereas customers who </a:t>
            </a:r>
            <a:r>
              <a:rPr lang="en-US" b="1" dirty="0"/>
              <a:t>use technical support</a:t>
            </a:r>
            <a:r>
              <a:rPr lang="en-US" dirty="0"/>
              <a:t> have a churn rate of only around </a:t>
            </a:r>
            <a:r>
              <a:rPr lang="en-US" b="1" dirty="0"/>
              <a:t>4%</a:t>
            </a:r>
            <a:r>
              <a:rPr lang="en-US" dirty="0"/>
              <a:t>.</a:t>
            </a:r>
            <a:br>
              <a:rPr lang="en-US" dirty="0"/>
            </a:br>
            <a:r>
              <a:rPr lang="en-US" dirty="0"/>
              <a:t>Customers without assistance face more technical issues and are more likely to leave the service.</a:t>
            </a: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E4A153A-211D-5028-9FA0-3C0611AA277C}"/>
              </a:ext>
            </a:extLst>
          </p:cNvPr>
          <p:cNvSpPr txBox="1"/>
          <p:nvPr/>
        </p:nvSpPr>
        <p:spPr>
          <a:xfrm>
            <a:off x="152400" y="4724400"/>
            <a:ext cx="6096000" cy="830997"/>
          </a:xfrm>
          <a:prstGeom prst="rect">
            <a:avLst/>
          </a:prstGeom>
          <a:noFill/>
        </p:spPr>
        <p:txBody>
          <a:bodyPr wrap="square">
            <a:spAutoFit/>
          </a:bodyPr>
          <a:lstStyle/>
          <a:p>
            <a:r>
              <a:rPr lang="en-IN" sz="4800" dirty="0"/>
              <a:t>Recommendations</a:t>
            </a:r>
          </a:p>
        </p:txBody>
      </p:sp>
      <p:sp>
        <p:nvSpPr>
          <p:cNvPr id="8" name="TextBox 7">
            <a:extLst>
              <a:ext uri="{FF2B5EF4-FFF2-40B4-BE49-F238E27FC236}">
                <a16:creationId xmlns:a16="http://schemas.microsoft.com/office/drawing/2014/main" id="{946073E1-4DF7-BFE5-86F6-D5AAE8E0D1A3}"/>
              </a:ext>
            </a:extLst>
          </p:cNvPr>
          <p:cNvSpPr txBox="1"/>
          <p:nvPr/>
        </p:nvSpPr>
        <p:spPr>
          <a:xfrm>
            <a:off x="0" y="10160"/>
            <a:ext cx="12192000" cy="2308324"/>
          </a:xfrm>
          <a:prstGeom prst="rect">
            <a:avLst/>
          </a:prstGeom>
          <a:noFill/>
        </p:spPr>
        <p:txBody>
          <a:bodyPr wrap="square">
            <a:spAutoFit/>
          </a:bodyPr>
          <a:lstStyle/>
          <a:p>
            <a:r>
              <a:rPr lang="en-US" sz="3600" dirty="0"/>
              <a:t>Improving customer support, reducing billing issues, promoting long-term plans, and enhancing service quality can significantly reduce churn and increase customer loyalty</a:t>
            </a:r>
            <a:endParaRPr lang="en-IN" sz="3600" dirty="0"/>
          </a:p>
        </p:txBody>
      </p:sp>
      <p:sp>
        <p:nvSpPr>
          <p:cNvPr id="9" name="Rectangle 1">
            <a:extLst>
              <a:ext uri="{FF2B5EF4-FFF2-40B4-BE49-F238E27FC236}">
                <a16:creationId xmlns:a16="http://schemas.microsoft.com/office/drawing/2014/main" id="{1E37E9B3-B2AE-31FE-EA39-BF892C36377F}"/>
              </a:ext>
            </a:extLst>
          </p:cNvPr>
          <p:cNvSpPr>
            <a:spLocks noChangeArrowheads="1"/>
          </p:cNvSpPr>
          <p:nvPr/>
        </p:nvSpPr>
        <p:spPr bwMode="auto">
          <a:xfrm>
            <a:off x="-76200" y="2743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 churn prediction to identify at-risk customers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Send proactive offers before they cancel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Track </a:t>
            </a:r>
            <a:r>
              <a:rPr kumimoji="0" lang="en-US" altLang="en-US" sz="1800" b="1" i="0" u="none" strike="noStrike" cap="none" normalizeH="0" baseline="0" dirty="0">
                <a:ln>
                  <a:noFill/>
                </a:ln>
                <a:solidFill>
                  <a:schemeClr val="tx1"/>
                </a:solidFill>
                <a:effectLst/>
                <a:latin typeface="Arial" panose="020B0604020202020204" pitchFamily="34" charset="0"/>
              </a:rPr>
              <a:t>service complaints</a:t>
            </a:r>
            <a:r>
              <a:rPr kumimoji="0" lang="en-US" altLang="en-US" sz="1800" b="0" i="0" u="none" strike="noStrike" cap="none" normalizeH="0" baseline="0" dirty="0">
                <a:ln>
                  <a:noFill/>
                </a:ln>
                <a:solidFill>
                  <a:schemeClr val="tx1"/>
                </a:solidFill>
                <a:effectLst/>
                <a:latin typeface="Arial" panose="020B0604020202020204" pitchFamily="34" charset="0"/>
              </a:rPr>
              <a:t> and resolve them faster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6057900" cy="6858000"/>
            <a:chOff x="0" y="0"/>
            <a:chExt cx="6057900" cy="6858000"/>
          </a:xfrm>
        </p:grpSpPr>
        <p:sp>
          <p:nvSpPr>
            <p:cNvPr id="3" name="object 3"/>
            <p:cNvSpPr/>
            <p:nvPr/>
          </p:nvSpPr>
          <p:spPr>
            <a:xfrm>
              <a:off x="0" y="0"/>
              <a:ext cx="6057900" cy="6858000"/>
            </a:xfrm>
            <a:custGeom>
              <a:avLst/>
              <a:gdLst/>
              <a:ahLst/>
              <a:cxnLst/>
              <a:rect l="l" t="t" r="r" b="b"/>
              <a:pathLst>
                <a:path w="6057900" h="6858000">
                  <a:moveTo>
                    <a:pt x="6057900" y="0"/>
                  </a:moveTo>
                  <a:lnTo>
                    <a:pt x="0" y="0"/>
                  </a:lnTo>
                  <a:lnTo>
                    <a:pt x="0" y="6858000"/>
                  </a:lnTo>
                  <a:lnTo>
                    <a:pt x="6057900" y="6858000"/>
                  </a:lnTo>
                  <a:lnTo>
                    <a:pt x="6057900" y="0"/>
                  </a:lnTo>
                  <a:close/>
                </a:path>
              </a:pathLst>
            </a:custGeom>
            <a:solidFill>
              <a:srgbClr val="0E3954"/>
            </a:solidFill>
          </p:spPr>
          <p:txBody>
            <a:bodyPr wrap="square" lIns="0" tIns="0" rIns="0" bIns="0" rtlCol="0"/>
            <a:lstStyle/>
            <a:p>
              <a:endParaRPr/>
            </a:p>
          </p:txBody>
        </p:sp>
        <p:sp>
          <p:nvSpPr>
            <p:cNvPr id="4" name="object 4"/>
            <p:cNvSpPr/>
            <p:nvPr/>
          </p:nvSpPr>
          <p:spPr>
            <a:xfrm>
              <a:off x="824483" y="3218688"/>
              <a:ext cx="2188845" cy="0"/>
            </a:xfrm>
            <a:custGeom>
              <a:avLst/>
              <a:gdLst/>
              <a:ahLst/>
              <a:cxnLst/>
              <a:rect l="l" t="t" r="r" b="b"/>
              <a:pathLst>
                <a:path w="2188845">
                  <a:moveTo>
                    <a:pt x="2188464" y="0"/>
                  </a:moveTo>
                  <a:lnTo>
                    <a:pt x="0" y="0"/>
                  </a:lnTo>
                </a:path>
              </a:pathLst>
            </a:custGeom>
            <a:ln w="76200">
              <a:solidFill>
                <a:srgbClr val="51A7DF"/>
              </a:solidFill>
            </a:ln>
          </p:spPr>
          <p:txBody>
            <a:bodyPr wrap="square" lIns="0" tIns="0" rIns="0" bIns="0" rtlCol="0"/>
            <a:lstStyle/>
            <a:p>
              <a:endParaRPr/>
            </a:p>
          </p:txBody>
        </p:sp>
      </p:grpSp>
      <p:sp>
        <p:nvSpPr>
          <p:cNvPr id="8" name="object 8"/>
          <p:cNvSpPr txBox="1"/>
          <p:nvPr/>
        </p:nvSpPr>
        <p:spPr>
          <a:xfrm>
            <a:off x="1500886" y="1730501"/>
            <a:ext cx="2616835" cy="696595"/>
          </a:xfrm>
          <a:prstGeom prst="rect">
            <a:avLst/>
          </a:prstGeom>
        </p:spPr>
        <p:txBody>
          <a:bodyPr vert="horz" wrap="square" lIns="0" tIns="13335" rIns="0" bIns="0" rtlCol="0">
            <a:spAutoFit/>
          </a:bodyPr>
          <a:lstStyle/>
          <a:p>
            <a:pPr marL="12700">
              <a:lnSpc>
                <a:spcPct val="100000"/>
              </a:lnSpc>
              <a:spcBef>
                <a:spcPts val="105"/>
              </a:spcBef>
            </a:pPr>
            <a:r>
              <a:rPr sz="4400" b="1" spc="-130" dirty="0">
                <a:solidFill>
                  <a:srgbClr val="FFFFFF"/>
                </a:solidFill>
                <a:latin typeface="Corbel"/>
                <a:cs typeface="Corbel"/>
              </a:rPr>
              <a:t>SUMMARY</a:t>
            </a:r>
            <a:endParaRPr sz="4400">
              <a:latin typeface="Corbel"/>
              <a:cs typeface="Corbel"/>
            </a:endParaRPr>
          </a:p>
        </p:txBody>
      </p:sp>
      <p:grpSp>
        <p:nvGrpSpPr>
          <p:cNvPr id="24" name="object 24"/>
          <p:cNvGrpSpPr/>
          <p:nvPr/>
        </p:nvGrpSpPr>
        <p:grpSpPr>
          <a:xfrm>
            <a:off x="6217855" y="232003"/>
            <a:ext cx="791210" cy="762000"/>
            <a:chOff x="6812970" y="1249775"/>
            <a:chExt cx="791210" cy="567690"/>
          </a:xfrm>
        </p:grpSpPr>
        <p:sp>
          <p:nvSpPr>
            <p:cNvPr id="25" name="object 25"/>
            <p:cNvSpPr/>
            <p:nvPr/>
          </p:nvSpPr>
          <p:spPr>
            <a:xfrm>
              <a:off x="7038988" y="1658715"/>
              <a:ext cx="339090" cy="120014"/>
            </a:xfrm>
            <a:custGeom>
              <a:avLst/>
              <a:gdLst/>
              <a:ahLst/>
              <a:cxnLst/>
              <a:rect l="l" t="t" r="r" b="b"/>
              <a:pathLst>
                <a:path w="339090" h="120014">
                  <a:moveTo>
                    <a:pt x="19776" y="0"/>
                  </a:moveTo>
                  <a:lnTo>
                    <a:pt x="0" y="34863"/>
                  </a:lnTo>
                  <a:lnTo>
                    <a:pt x="0" y="119666"/>
                  </a:lnTo>
                  <a:lnTo>
                    <a:pt x="339026" y="119666"/>
                  </a:lnTo>
                  <a:lnTo>
                    <a:pt x="339026" y="89514"/>
                  </a:lnTo>
                  <a:lnTo>
                    <a:pt x="323017" y="73496"/>
                  </a:lnTo>
                  <a:lnTo>
                    <a:pt x="313526" y="61924"/>
                  </a:lnTo>
                  <a:lnTo>
                    <a:pt x="306418" y="48761"/>
                  </a:lnTo>
                  <a:lnTo>
                    <a:pt x="301960" y="34539"/>
                  </a:lnTo>
                  <a:lnTo>
                    <a:pt x="300415" y="19787"/>
                  </a:lnTo>
                  <a:lnTo>
                    <a:pt x="294764" y="14133"/>
                  </a:lnTo>
                  <a:lnTo>
                    <a:pt x="250197" y="35661"/>
                  </a:lnTo>
                  <a:lnTo>
                    <a:pt x="203171" y="47531"/>
                  </a:lnTo>
                  <a:lnTo>
                    <a:pt x="155151" y="49821"/>
                  </a:lnTo>
                  <a:lnTo>
                    <a:pt x="107602" y="42611"/>
                  </a:lnTo>
                  <a:lnTo>
                    <a:pt x="61989" y="25977"/>
                  </a:lnTo>
                  <a:lnTo>
                    <a:pt x="19776" y="0"/>
                  </a:lnTo>
                  <a:close/>
                </a:path>
              </a:pathLst>
            </a:custGeom>
            <a:solidFill>
              <a:srgbClr val="000000"/>
            </a:solidFill>
          </p:spPr>
          <p:txBody>
            <a:bodyPr wrap="square" lIns="0" tIns="0" rIns="0" bIns="0" rtlCol="0"/>
            <a:lstStyle/>
            <a:p>
              <a:endParaRPr/>
            </a:p>
          </p:txBody>
        </p:sp>
        <p:pic>
          <p:nvPicPr>
            <p:cNvPr id="26" name="object 26"/>
            <p:cNvPicPr/>
            <p:nvPr/>
          </p:nvPicPr>
          <p:blipFill>
            <a:blip r:embed="rId2" cstate="print"/>
            <a:stretch>
              <a:fillRect/>
            </a:stretch>
          </p:blipFill>
          <p:spPr>
            <a:xfrm>
              <a:off x="7384607" y="1285581"/>
              <a:ext cx="133727" cy="167722"/>
            </a:xfrm>
            <a:prstGeom prst="rect">
              <a:avLst/>
            </a:prstGeom>
          </p:spPr>
        </p:pic>
        <p:pic>
          <p:nvPicPr>
            <p:cNvPr id="27" name="object 27"/>
            <p:cNvPicPr/>
            <p:nvPr/>
          </p:nvPicPr>
          <p:blipFill>
            <a:blip r:embed="rId3" cstate="print"/>
            <a:stretch>
              <a:fillRect/>
            </a:stretch>
          </p:blipFill>
          <p:spPr>
            <a:xfrm>
              <a:off x="7412859" y="1477801"/>
              <a:ext cx="191173" cy="168664"/>
            </a:xfrm>
            <a:prstGeom prst="rect">
              <a:avLst/>
            </a:prstGeom>
          </p:spPr>
        </p:pic>
        <p:sp>
          <p:nvSpPr>
            <p:cNvPr id="28" name="object 28"/>
            <p:cNvSpPr/>
            <p:nvPr/>
          </p:nvSpPr>
          <p:spPr>
            <a:xfrm>
              <a:off x="6990959" y="1249775"/>
              <a:ext cx="567690" cy="567690"/>
            </a:xfrm>
            <a:custGeom>
              <a:avLst/>
              <a:gdLst/>
              <a:ahLst/>
              <a:cxnLst/>
              <a:rect l="l" t="t" r="r" b="b"/>
              <a:pathLst>
                <a:path w="567690" h="567689">
                  <a:moveTo>
                    <a:pt x="456094" y="386326"/>
                  </a:moveTo>
                  <a:lnTo>
                    <a:pt x="346560" y="386326"/>
                  </a:lnTo>
                  <a:lnTo>
                    <a:pt x="378579" y="417420"/>
                  </a:lnTo>
                  <a:lnTo>
                    <a:pt x="377961" y="427800"/>
                  </a:lnTo>
                  <a:lnTo>
                    <a:pt x="481229" y="552163"/>
                  </a:lnTo>
                  <a:lnTo>
                    <a:pt x="516191" y="567593"/>
                  </a:lnTo>
                  <a:lnTo>
                    <a:pt x="535129" y="564486"/>
                  </a:lnTo>
                  <a:lnTo>
                    <a:pt x="551860" y="554048"/>
                  </a:lnTo>
                  <a:lnTo>
                    <a:pt x="563146" y="537838"/>
                  </a:lnTo>
                  <a:lnTo>
                    <a:pt x="567281" y="519066"/>
                  </a:lnTo>
                  <a:lnTo>
                    <a:pt x="564176" y="500118"/>
                  </a:lnTo>
                  <a:lnTo>
                    <a:pt x="553743" y="483378"/>
                  </a:lnTo>
                  <a:lnTo>
                    <a:pt x="550918" y="480552"/>
                  </a:lnTo>
                  <a:lnTo>
                    <a:pt x="462394" y="391037"/>
                  </a:lnTo>
                  <a:lnTo>
                    <a:pt x="456094" y="386326"/>
                  </a:lnTo>
                  <a:close/>
                </a:path>
                <a:path w="567690" h="567689">
                  <a:moveTo>
                    <a:pt x="214716" y="0"/>
                  </a:moveTo>
                  <a:lnTo>
                    <a:pt x="165164" y="5321"/>
                  </a:lnTo>
                  <a:lnTo>
                    <a:pt x="119845" y="21224"/>
                  </a:lnTo>
                  <a:lnTo>
                    <a:pt x="79995" y="46406"/>
                  </a:lnTo>
                  <a:lnTo>
                    <a:pt x="46850" y="79567"/>
                  </a:lnTo>
                  <a:lnTo>
                    <a:pt x="21646" y="119403"/>
                  </a:lnTo>
                  <a:lnTo>
                    <a:pt x="5617" y="164612"/>
                  </a:lnTo>
                  <a:lnTo>
                    <a:pt x="0" y="213892"/>
                  </a:lnTo>
                  <a:lnTo>
                    <a:pt x="5617" y="263230"/>
                  </a:lnTo>
                  <a:lnTo>
                    <a:pt x="21646" y="308612"/>
                  </a:lnTo>
                  <a:lnTo>
                    <a:pt x="46851" y="348737"/>
                  </a:lnTo>
                  <a:lnTo>
                    <a:pt x="79995" y="382301"/>
                  </a:lnTo>
                  <a:lnTo>
                    <a:pt x="119845" y="408003"/>
                  </a:lnTo>
                  <a:lnTo>
                    <a:pt x="165164" y="424541"/>
                  </a:lnTo>
                  <a:lnTo>
                    <a:pt x="214717" y="430612"/>
                  </a:lnTo>
                  <a:lnTo>
                    <a:pt x="249752" y="427800"/>
                  </a:lnTo>
                  <a:lnTo>
                    <a:pt x="283817" y="419422"/>
                  </a:lnTo>
                  <a:lnTo>
                    <a:pt x="316292" y="405568"/>
                  </a:lnTo>
                  <a:lnTo>
                    <a:pt x="346560" y="386326"/>
                  </a:lnTo>
                  <a:lnTo>
                    <a:pt x="456094" y="386326"/>
                  </a:lnTo>
                  <a:lnTo>
                    <a:pt x="452550" y="383676"/>
                  </a:lnTo>
                  <a:lnTo>
                    <a:pt x="441558" y="378788"/>
                  </a:lnTo>
                  <a:lnTo>
                    <a:pt x="436130" y="377845"/>
                  </a:lnTo>
                  <a:lnTo>
                    <a:pt x="417191" y="377845"/>
                  </a:lnTo>
                  <a:lnTo>
                    <a:pt x="385171" y="346751"/>
                  </a:lnTo>
                  <a:lnTo>
                    <a:pt x="398031" y="326963"/>
                  </a:lnTo>
                  <a:lnTo>
                    <a:pt x="84756" y="326963"/>
                  </a:lnTo>
                  <a:lnTo>
                    <a:pt x="59927" y="288483"/>
                  </a:lnTo>
                  <a:lnTo>
                    <a:pt x="46528" y="246208"/>
                  </a:lnTo>
                  <a:lnTo>
                    <a:pt x="44379" y="202467"/>
                  </a:lnTo>
                  <a:lnTo>
                    <a:pt x="53295" y="159590"/>
                  </a:lnTo>
                  <a:lnTo>
                    <a:pt x="73093" y="119906"/>
                  </a:lnTo>
                  <a:lnTo>
                    <a:pt x="103591" y="85745"/>
                  </a:lnTo>
                  <a:lnTo>
                    <a:pt x="155740" y="54768"/>
                  </a:lnTo>
                  <a:lnTo>
                    <a:pt x="215658" y="44286"/>
                  </a:lnTo>
                  <a:lnTo>
                    <a:pt x="343473" y="44286"/>
                  </a:lnTo>
                  <a:lnTo>
                    <a:pt x="309752" y="22608"/>
                  </a:lnTo>
                  <a:lnTo>
                    <a:pt x="264318" y="6071"/>
                  </a:lnTo>
                  <a:lnTo>
                    <a:pt x="214716" y="0"/>
                  </a:lnTo>
                  <a:close/>
                </a:path>
                <a:path w="567690" h="567689">
                  <a:moveTo>
                    <a:pt x="429683" y="376726"/>
                  </a:moveTo>
                  <a:lnTo>
                    <a:pt x="417191" y="377845"/>
                  </a:lnTo>
                  <a:lnTo>
                    <a:pt x="436130" y="377845"/>
                  </a:lnTo>
                  <a:lnTo>
                    <a:pt x="429683" y="376726"/>
                  </a:lnTo>
                  <a:close/>
                </a:path>
                <a:path w="567690" h="567689">
                  <a:moveTo>
                    <a:pt x="213775" y="293984"/>
                  </a:moveTo>
                  <a:lnTo>
                    <a:pt x="174339" y="297282"/>
                  </a:lnTo>
                  <a:lnTo>
                    <a:pt x="135610" y="306234"/>
                  </a:lnTo>
                  <a:lnTo>
                    <a:pt x="96940" y="320412"/>
                  </a:lnTo>
                  <a:lnTo>
                    <a:pt x="84756" y="326963"/>
                  </a:lnTo>
                  <a:lnTo>
                    <a:pt x="398031" y="326963"/>
                  </a:lnTo>
                  <a:lnTo>
                    <a:pt x="398644" y="326021"/>
                  </a:lnTo>
                  <a:lnTo>
                    <a:pt x="346560" y="326021"/>
                  </a:lnTo>
                  <a:lnTo>
                    <a:pt x="333126" y="320014"/>
                  </a:lnTo>
                  <a:lnTo>
                    <a:pt x="291939" y="306234"/>
                  </a:lnTo>
                  <a:lnTo>
                    <a:pt x="253210" y="297282"/>
                  </a:lnTo>
                  <a:lnTo>
                    <a:pt x="233537" y="294838"/>
                  </a:lnTo>
                  <a:lnTo>
                    <a:pt x="213775" y="293984"/>
                  </a:lnTo>
                  <a:close/>
                </a:path>
                <a:path w="567690" h="567689">
                  <a:moveTo>
                    <a:pt x="343473" y="44286"/>
                  </a:moveTo>
                  <a:lnTo>
                    <a:pt x="215658" y="44286"/>
                  </a:lnTo>
                  <a:lnTo>
                    <a:pt x="261380" y="50380"/>
                  </a:lnTo>
                  <a:lnTo>
                    <a:pt x="302368" y="67598"/>
                  </a:lnTo>
                  <a:lnTo>
                    <a:pt x="337025" y="94343"/>
                  </a:lnTo>
                  <a:lnTo>
                    <a:pt x="363755" y="129019"/>
                  </a:lnTo>
                  <a:lnTo>
                    <a:pt x="380964" y="170029"/>
                  </a:lnTo>
                  <a:lnTo>
                    <a:pt x="387055" y="215777"/>
                  </a:lnTo>
                  <a:lnTo>
                    <a:pt x="384436" y="245855"/>
                  </a:lnTo>
                  <a:lnTo>
                    <a:pt x="376696" y="274786"/>
                  </a:lnTo>
                  <a:lnTo>
                    <a:pt x="364012" y="301773"/>
                  </a:lnTo>
                  <a:lnTo>
                    <a:pt x="346560" y="326021"/>
                  </a:lnTo>
                  <a:lnTo>
                    <a:pt x="398644" y="326021"/>
                  </a:lnTo>
                  <a:lnTo>
                    <a:pt x="404404" y="317158"/>
                  </a:lnTo>
                  <a:lnTo>
                    <a:pt x="418250" y="285268"/>
                  </a:lnTo>
                  <a:lnTo>
                    <a:pt x="426623" y="251612"/>
                  </a:lnTo>
                  <a:lnTo>
                    <a:pt x="429433" y="216719"/>
                  </a:lnTo>
                  <a:lnTo>
                    <a:pt x="424112" y="167381"/>
                  </a:lnTo>
                  <a:lnTo>
                    <a:pt x="408199" y="121999"/>
                  </a:lnTo>
                  <a:lnTo>
                    <a:pt x="382978" y="81874"/>
                  </a:lnTo>
                  <a:lnTo>
                    <a:pt x="349734" y="48310"/>
                  </a:lnTo>
                  <a:lnTo>
                    <a:pt x="343473" y="44286"/>
                  </a:lnTo>
                  <a:close/>
                </a:path>
              </a:pathLst>
            </a:custGeom>
            <a:solidFill>
              <a:srgbClr val="000000"/>
            </a:solidFill>
          </p:spPr>
          <p:txBody>
            <a:bodyPr wrap="square" lIns="0" tIns="0" rIns="0" bIns="0" rtlCol="0"/>
            <a:lstStyle/>
            <a:p>
              <a:endParaRPr/>
            </a:p>
          </p:txBody>
        </p:sp>
        <p:pic>
          <p:nvPicPr>
            <p:cNvPr id="29" name="object 29"/>
            <p:cNvPicPr/>
            <p:nvPr/>
          </p:nvPicPr>
          <p:blipFill>
            <a:blip r:embed="rId4" cstate="print"/>
            <a:stretch>
              <a:fillRect/>
            </a:stretch>
          </p:blipFill>
          <p:spPr>
            <a:xfrm>
              <a:off x="7109619" y="1332694"/>
              <a:ext cx="190231" cy="190336"/>
            </a:xfrm>
            <a:prstGeom prst="rect">
              <a:avLst/>
            </a:prstGeom>
          </p:spPr>
        </p:pic>
        <p:pic>
          <p:nvPicPr>
            <p:cNvPr id="30" name="object 30"/>
            <p:cNvPicPr/>
            <p:nvPr/>
          </p:nvPicPr>
          <p:blipFill>
            <a:blip r:embed="rId5" cstate="print"/>
            <a:stretch>
              <a:fillRect/>
            </a:stretch>
          </p:blipFill>
          <p:spPr>
            <a:xfrm>
              <a:off x="6812970" y="1477801"/>
              <a:ext cx="217542" cy="168664"/>
            </a:xfrm>
            <a:prstGeom prst="rect">
              <a:avLst/>
            </a:prstGeom>
          </p:spPr>
        </p:pic>
        <p:pic>
          <p:nvPicPr>
            <p:cNvPr id="31" name="object 31"/>
            <p:cNvPicPr/>
            <p:nvPr/>
          </p:nvPicPr>
          <p:blipFill>
            <a:blip r:embed="rId6" cstate="print"/>
            <a:stretch>
              <a:fillRect/>
            </a:stretch>
          </p:blipFill>
          <p:spPr>
            <a:xfrm>
              <a:off x="6898845" y="1285757"/>
              <a:ext cx="130725" cy="166603"/>
            </a:xfrm>
            <a:prstGeom prst="rect">
              <a:avLst/>
            </a:prstGeom>
          </p:spPr>
        </p:pic>
      </p:grpSp>
      <p:sp>
        <p:nvSpPr>
          <p:cNvPr id="33" name="TextBox 32">
            <a:extLst>
              <a:ext uri="{FF2B5EF4-FFF2-40B4-BE49-F238E27FC236}">
                <a16:creationId xmlns:a16="http://schemas.microsoft.com/office/drawing/2014/main" id="{9335D587-315F-09D7-060F-554C3DD1C381}"/>
              </a:ext>
            </a:extLst>
          </p:cNvPr>
          <p:cNvSpPr txBox="1"/>
          <p:nvPr/>
        </p:nvSpPr>
        <p:spPr>
          <a:xfrm>
            <a:off x="7169021" y="152400"/>
            <a:ext cx="5022979" cy="1754326"/>
          </a:xfrm>
          <a:prstGeom prst="rect">
            <a:avLst/>
          </a:prstGeom>
          <a:noFill/>
        </p:spPr>
        <p:txBody>
          <a:bodyPr wrap="square">
            <a:spAutoFit/>
          </a:bodyPr>
          <a:lstStyle/>
          <a:p>
            <a:r>
              <a:rPr lang="en-US" dirty="0"/>
              <a:t>The analysis shows that churn is influenced by contract type, monthly charges, service quality, and support features. By addressing these issues through strategic interventions, the company can significantly reduce churn and improve retention.</a:t>
            </a:r>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02635" y="0"/>
            <a:ext cx="5586730" cy="635000"/>
          </a:xfrm>
          <a:prstGeom prst="rect">
            <a:avLst/>
          </a:prstGeom>
        </p:spPr>
        <p:txBody>
          <a:bodyPr vert="horz" wrap="square" lIns="0" tIns="12065" rIns="0" bIns="0" rtlCol="0">
            <a:spAutoFit/>
          </a:bodyPr>
          <a:lstStyle/>
          <a:p>
            <a:pPr marL="12700">
              <a:lnSpc>
                <a:spcPct val="100000"/>
              </a:lnSpc>
              <a:spcBef>
                <a:spcPts val="95"/>
              </a:spcBef>
            </a:pPr>
            <a:r>
              <a:rPr sz="4000" b="1" spc="-155" dirty="0">
                <a:solidFill>
                  <a:schemeClr val="tx1"/>
                </a:solidFill>
                <a:latin typeface="Corbel"/>
                <a:cs typeface="Corbel"/>
              </a:rPr>
              <a:t>DASHBOARD</a:t>
            </a:r>
            <a:r>
              <a:rPr sz="4000" b="1" spc="-254" dirty="0">
                <a:solidFill>
                  <a:schemeClr val="tx1"/>
                </a:solidFill>
                <a:latin typeface="Corbel"/>
                <a:cs typeface="Corbel"/>
              </a:rPr>
              <a:t> </a:t>
            </a:r>
            <a:r>
              <a:rPr sz="4000" b="1" spc="-445" dirty="0">
                <a:solidFill>
                  <a:schemeClr val="tx1"/>
                </a:solidFill>
                <a:latin typeface="Corbel"/>
                <a:cs typeface="Corbel"/>
              </a:rPr>
              <a:t>P</a:t>
            </a:r>
            <a:r>
              <a:rPr sz="4000" b="1" spc="-170" dirty="0">
                <a:solidFill>
                  <a:schemeClr val="tx1"/>
                </a:solidFill>
                <a:latin typeface="Corbel"/>
                <a:cs typeface="Corbel"/>
              </a:rPr>
              <a:t>A</a:t>
            </a:r>
            <a:r>
              <a:rPr sz="4000" b="1" spc="-135" dirty="0">
                <a:solidFill>
                  <a:schemeClr val="tx1"/>
                </a:solidFill>
                <a:latin typeface="Corbel"/>
                <a:cs typeface="Corbel"/>
              </a:rPr>
              <a:t>G</a:t>
            </a:r>
            <a:r>
              <a:rPr sz="4000" b="1" spc="-140" dirty="0">
                <a:solidFill>
                  <a:schemeClr val="tx1"/>
                </a:solidFill>
                <a:latin typeface="Corbel"/>
                <a:cs typeface="Corbel"/>
              </a:rPr>
              <a:t>E</a:t>
            </a:r>
            <a:r>
              <a:rPr sz="4000" b="1" spc="235" dirty="0">
                <a:solidFill>
                  <a:schemeClr val="tx1"/>
                </a:solidFill>
                <a:latin typeface="Corbel"/>
                <a:cs typeface="Corbel"/>
              </a:rPr>
              <a:t>S</a:t>
            </a:r>
            <a:r>
              <a:rPr sz="4000" b="1" spc="-145" dirty="0">
                <a:solidFill>
                  <a:schemeClr val="tx1"/>
                </a:solidFill>
                <a:latin typeface="Corbel"/>
                <a:cs typeface="Corbel"/>
              </a:rPr>
              <a:t>V</a:t>
            </a:r>
            <a:r>
              <a:rPr sz="4000" b="1" spc="-130" dirty="0">
                <a:solidFill>
                  <a:schemeClr val="tx1"/>
                </a:solidFill>
                <a:latin typeface="Corbel"/>
                <a:cs typeface="Corbel"/>
              </a:rPr>
              <a:t>I</a:t>
            </a:r>
            <a:r>
              <a:rPr sz="4000" b="1" spc="-140" dirty="0">
                <a:solidFill>
                  <a:schemeClr val="tx1"/>
                </a:solidFill>
                <a:latin typeface="Corbel"/>
                <a:cs typeface="Corbel"/>
              </a:rPr>
              <a:t>E</a:t>
            </a:r>
            <a:r>
              <a:rPr sz="4000" b="1" spc="15" dirty="0">
                <a:solidFill>
                  <a:schemeClr val="tx1"/>
                </a:solidFill>
                <a:latin typeface="Corbel"/>
                <a:cs typeface="Corbel"/>
              </a:rPr>
              <a:t>W</a:t>
            </a:r>
            <a:endParaRPr sz="4000" dirty="0">
              <a:solidFill>
                <a:schemeClr val="tx1"/>
              </a:solidFill>
              <a:latin typeface="Corbel"/>
              <a:cs typeface="Corbel"/>
            </a:endParaRPr>
          </a:p>
        </p:txBody>
      </p:sp>
      <p:pic>
        <p:nvPicPr>
          <p:cNvPr id="7" name="Picture 6">
            <a:extLst>
              <a:ext uri="{FF2B5EF4-FFF2-40B4-BE49-F238E27FC236}">
                <a16:creationId xmlns:a16="http://schemas.microsoft.com/office/drawing/2014/main" id="{9116D63E-F523-7CDD-DF24-8CBF1EC8BA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2" y="635000"/>
            <a:ext cx="12184175" cy="619489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4570"/>
            <a:ext cx="12192000" cy="6853428"/>
            <a:chOff x="0" y="4570"/>
            <a:chExt cx="12192000" cy="6853428"/>
          </a:xfrm>
        </p:grpSpPr>
        <p:pic>
          <p:nvPicPr>
            <p:cNvPr id="3" name="object 3"/>
            <p:cNvPicPr/>
            <p:nvPr/>
          </p:nvPicPr>
          <p:blipFill>
            <a:blip r:embed="rId2" cstate="print"/>
            <a:stretch>
              <a:fillRect/>
            </a:stretch>
          </p:blipFill>
          <p:spPr>
            <a:xfrm>
              <a:off x="0" y="4570"/>
              <a:ext cx="12192000" cy="6853428"/>
            </a:xfrm>
            <a:prstGeom prst="rect">
              <a:avLst/>
            </a:prstGeom>
          </p:spPr>
        </p:pic>
        <p:sp>
          <p:nvSpPr>
            <p:cNvPr id="4" name="object 4">
              <a:hlinkClick r:id="rId3"/>
            </p:cNvPr>
            <p:cNvSpPr/>
            <p:nvPr/>
          </p:nvSpPr>
          <p:spPr>
            <a:xfrm>
              <a:off x="3662996" y="5047099"/>
              <a:ext cx="753745" cy="576580"/>
            </a:xfrm>
            <a:custGeom>
              <a:avLst/>
              <a:gdLst/>
              <a:ahLst/>
              <a:cxnLst/>
              <a:rect l="l" t="t" r="r" b="b"/>
              <a:pathLst>
                <a:path w="753744" h="576579">
                  <a:moveTo>
                    <a:pt x="621548" y="65486"/>
                  </a:moveTo>
                  <a:lnTo>
                    <a:pt x="131843" y="65486"/>
                  </a:lnTo>
                  <a:lnTo>
                    <a:pt x="131843" y="123115"/>
                  </a:lnTo>
                  <a:lnTo>
                    <a:pt x="0" y="210213"/>
                  </a:lnTo>
                  <a:lnTo>
                    <a:pt x="0" y="576285"/>
                  </a:lnTo>
                  <a:lnTo>
                    <a:pt x="753392" y="576285"/>
                  </a:lnTo>
                  <a:lnTo>
                    <a:pt x="753392" y="536993"/>
                  </a:lnTo>
                  <a:lnTo>
                    <a:pt x="86640" y="536993"/>
                  </a:lnTo>
                  <a:lnTo>
                    <a:pt x="111568" y="520621"/>
                  </a:lnTo>
                  <a:lnTo>
                    <a:pt x="56504" y="520621"/>
                  </a:lnTo>
                  <a:lnTo>
                    <a:pt x="56504" y="271770"/>
                  </a:lnTo>
                  <a:lnTo>
                    <a:pt x="188348" y="271770"/>
                  </a:lnTo>
                  <a:lnTo>
                    <a:pt x="188348" y="104779"/>
                  </a:lnTo>
                  <a:lnTo>
                    <a:pt x="621548" y="104779"/>
                  </a:lnTo>
                  <a:lnTo>
                    <a:pt x="621548" y="65486"/>
                  </a:lnTo>
                  <a:close/>
                </a:path>
                <a:path w="753744" h="576579">
                  <a:moveTo>
                    <a:pt x="532579" y="380970"/>
                  </a:moveTo>
                  <a:lnTo>
                    <a:pt x="377167" y="380970"/>
                  </a:lnTo>
                  <a:lnTo>
                    <a:pt x="425343" y="387232"/>
                  </a:lnTo>
                  <a:lnTo>
                    <a:pt x="468045" y="406019"/>
                  </a:lnTo>
                  <a:lnTo>
                    <a:pt x="481229" y="414532"/>
                  </a:lnTo>
                  <a:lnTo>
                    <a:pt x="666752" y="536993"/>
                  </a:lnTo>
                  <a:lnTo>
                    <a:pt x="753392" y="536993"/>
                  </a:lnTo>
                  <a:lnTo>
                    <a:pt x="753392" y="521276"/>
                  </a:lnTo>
                  <a:lnTo>
                    <a:pt x="696888" y="521276"/>
                  </a:lnTo>
                  <a:lnTo>
                    <a:pt x="508539" y="396851"/>
                  </a:lnTo>
                  <a:lnTo>
                    <a:pt x="532579" y="380970"/>
                  </a:lnTo>
                  <a:close/>
                </a:path>
                <a:path w="753744" h="576579">
                  <a:moveTo>
                    <a:pt x="753392" y="272425"/>
                  </a:moveTo>
                  <a:lnTo>
                    <a:pt x="696888" y="272425"/>
                  </a:lnTo>
                  <a:lnTo>
                    <a:pt x="696888" y="521276"/>
                  </a:lnTo>
                  <a:lnTo>
                    <a:pt x="753392" y="521276"/>
                  </a:lnTo>
                  <a:lnTo>
                    <a:pt x="753392" y="272425"/>
                  </a:lnTo>
                  <a:close/>
                </a:path>
                <a:path w="753744" h="576579">
                  <a:moveTo>
                    <a:pt x="188348" y="271770"/>
                  </a:moveTo>
                  <a:lnTo>
                    <a:pt x="56504" y="271770"/>
                  </a:lnTo>
                  <a:lnTo>
                    <a:pt x="244852" y="396196"/>
                  </a:lnTo>
                  <a:lnTo>
                    <a:pt x="56504" y="520621"/>
                  </a:lnTo>
                  <a:lnTo>
                    <a:pt x="111568" y="520621"/>
                  </a:lnTo>
                  <a:lnTo>
                    <a:pt x="273104" y="414532"/>
                  </a:lnTo>
                  <a:lnTo>
                    <a:pt x="286289" y="406019"/>
                  </a:lnTo>
                  <a:lnTo>
                    <a:pt x="328991" y="387232"/>
                  </a:lnTo>
                  <a:lnTo>
                    <a:pt x="377167" y="380970"/>
                  </a:lnTo>
                  <a:lnTo>
                    <a:pt x="532579" y="380970"/>
                  </a:lnTo>
                  <a:lnTo>
                    <a:pt x="535305" y="379169"/>
                  </a:lnTo>
                  <a:lnTo>
                    <a:pt x="273104" y="379169"/>
                  </a:lnTo>
                  <a:lnTo>
                    <a:pt x="188348" y="322850"/>
                  </a:lnTo>
                  <a:lnTo>
                    <a:pt x="188348" y="271770"/>
                  </a:lnTo>
                  <a:close/>
                </a:path>
                <a:path w="753744" h="576579">
                  <a:moveTo>
                    <a:pt x="376696" y="354611"/>
                  </a:moveTo>
                  <a:lnTo>
                    <a:pt x="322693" y="360751"/>
                  </a:lnTo>
                  <a:lnTo>
                    <a:pt x="273104" y="379169"/>
                  </a:lnTo>
                  <a:lnTo>
                    <a:pt x="480287" y="379169"/>
                  </a:lnTo>
                  <a:lnTo>
                    <a:pt x="430699" y="360751"/>
                  </a:lnTo>
                  <a:lnTo>
                    <a:pt x="376696" y="354611"/>
                  </a:lnTo>
                  <a:close/>
                </a:path>
                <a:path w="753744" h="576579">
                  <a:moveTo>
                    <a:pt x="621548" y="104779"/>
                  </a:moveTo>
                  <a:lnTo>
                    <a:pt x="565044" y="104779"/>
                  </a:lnTo>
                  <a:lnTo>
                    <a:pt x="565044" y="322850"/>
                  </a:lnTo>
                  <a:lnTo>
                    <a:pt x="480287" y="379169"/>
                  </a:lnTo>
                  <a:lnTo>
                    <a:pt x="535305" y="379169"/>
                  </a:lnTo>
                  <a:lnTo>
                    <a:pt x="696888" y="272425"/>
                  </a:lnTo>
                  <a:lnTo>
                    <a:pt x="753392" y="272425"/>
                  </a:lnTo>
                  <a:lnTo>
                    <a:pt x="753392" y="210213"/>
                  </a:lnTo>
                  <a:lnTo>
                    <a:pt x="621548" y="122460"/>
                  </a:lnTo>
                  <a:lnTo>
                    <a:pt x="621548" y="104779"/>
                  </a:lnTo>
                  <a:close/>
                </a:path>
                <a:path w="753744" h="576579">
                  <a:moveTo>
                    <a:pt x="376696" y="0"/>
                  </a:moveTo>
                  <a:lnTo>
                    <a:pt x="263687" y="65486"/>
                  </a:lnTo>
                  <a:lnTo>
                    <a:pt x="489705" y="65486"/>
                  </a:lnTo>
                  <a:lnTo>
                    <a:pt x="376696" y="0"/>
                  </a:lnTo>
                  <a:close/>
                </a:path>
              </a:pathLst>
            </a:custGeom>
            <a:solidFill>
              <a:srgbClr val="000000"/>
            </a:solidFill>
          </p:spPr>
          <p:txBody>
            <a:bodyPr wrap="square" lIns="0" tIns="0" rIns="0" bIns="0" rtlCol="0"/>
            <a:lstStyle/>
            <a:p>
              <a:endParaRPr dirty="0"/>
            </a:p>
          </p:txBody>
        </p:sp>
        <p:pic>
          <p:nvPicPr>
            <p:cNvPr id="5" name="object 5">
              <a:hlinkClick r:id="rId3"/>
            </p:cNvPr>
            <p:cNvPicPr/>
            <p:nvPr/>
          </p:nvPicPr>
          <p:blipFill>
            <a:blip r:embed="rId4" cstate="print"/>
            <a:stretch>
              <a:fillRect/>
            </a:stretch>
          </p:blipFill>
          <p:spPr>
            <a:xfrm>
              <a:off x="3917442" y="5163814"/>
              <a:ext cx="244852" cy="171575"/>
            </a:xfrm>
            <a:prstGeom prst="rect">
              <a:avLst/>
            </a:prstGeom>
          </p:spPr>
        </p:pic>
      </p:grpSp>
      <p:sp>
        <p:nvSpPr>
          <p:cNvPr id="14" name="object 14"/>
          <p:cNvSpPr txBox="1"/>
          <p:nvPr/>
        </p:nvSpPr>
        <p:spPr>
          <a:xfrm>
            <a:off x="840739" y="5742838"/>
            <a:ext cx="6398261" cy="289823"/>
          </a:xfrm>
          <a:prstGeom prst="rect">
            <a:avLst/>
          </a:prstGeom>
        </p:spPr>
        <p:txBody>
          <a:bodyPr vert="horz" wrap="square" lIns="0" tIns="12700" rIns="0" bIns="0" rtlCol="0">
            <a:spAutoFit/>
          </a:bodyPr>
          <a:lstStyle/>
          <a:p>
            <a:pPr marL="12700" marR="5080" indent="986155">
              <a:lnSpc>
                <a:spcPct val="100000"/>
              </a:lnSpc>
              <a:spcBef>
                <a:spcPts val="100"/>
              </a:spcBef>
            </a:pPr>
            <a:r>
              <a:rPr sz="1800" spc="-10" dirty="0">
                <a:solidFill>
                  <a:srgbClr val="FFFFFF"/>
                </a:solidFill>
                <a:latin typeface="Bahnschrift"/>
                <a:cs typeface="Bahnschrift"/>
              </a:rPr>
              <a:t>Email: </a:t>
            </a:r>
            <a:r>
              <a:rPr lang="en-IN" sz="1800" spc="-10" dirty="0">
                <a:solidFill>
                  <a:srgbClr val="FFFFFF"/>
                </a:solidFill>
                <a:latin typeface="Bahnschrift"/>
                <a:cs typeface="Bahnschrift"/>
              </a:rPr>
              <a:t>bikashbisha</a:t>
            </a:r>
            <a:r>
              <a:rPr lang="en-IN" spc="-10" dirty="0">
                <a:solidFill>
                  <a:srgbClr val="FFFFFF"/>
                </a:solidFill>
                <a:latin typeface="Bahnschrift"/>
                <a:cs typeface="Bahnschrift"/>
              </a:rPr>
              <a:t>lmohanty@gmail.com</a:t>
            </a:r>
            <a:endParaRPr sz="1800" dirty="0">
              <a:latin typeface="Bahnschrift"/>
              <a:cs typeface="Bahnschrift"/>
            </a:endParaRPr>
          </a:p>
        </p:txBody>
      </p:sp>
      <p:sp>
        <p:nvSpPr>
          <p:cNvPr id="15" name="object 15"/>
          <p:cNvSpPr txBox="1"/>
          <p:nvPr/>
        </p:nvSpPr>
        <p:spPr>
          <a:xfrm>
            <a:off x="1612516" y="6151820"/>
            <a:ext cx="2427352" cy="289823"/>
          </a:xfrm>
          <a:prstGeom prst="rect">
            <a:avLst/>
          </a:prstGeom>
        </p:spPr>
        <p:txBody>
          <a:bodyPr vert="horz" wrap="square" lIns="0" tIns="12700" rIns="0" bIns="0" rtlCol="0">
            <a:spAutoFit/>
          </a:bodyPr>
          <a:lstStyle/>
          <a:p>
            <a:pPr marL="12700" marR="5080" indent="192405">
              <a:lnSpc>
                <a:spcPct val="100000"/>
              </a:lnSpc>
              <a:spcBef>
                <a:spcPts val="100"/>
              </a:spcBef>
            </a:pPr>
            <a:r>
              <a:rPr sz="1800" spc="-10" dirty="0">
                <a:solidFill>
                  <a:srgbClr val="FFFFFF"/>
                </a:solidFill>
                <a:latin typeface="Bahnschrift"/>
                <a:cs typeface="Bahnschrift"/>
              </a:rPr>
              <a:t>Contact: </a:t>
            </a:r>
            <a:r>
              <a:rPr lang="en-IN" spc="-10" dirty="0">
                <a:solidFill>
                  <a:srgbClr val="FFFFFF"/>
                </a:solidFill>
                <a:latin typeface="Bahnschrift"/>
                <a:cs typeface="Bahnschrift"/>
              </a:rPr>
              <a:t>9777484646</a:t>
            </a:r>
            <a:endParaRPr sz="1800" dirty="0">
              <a:latin typeface="Bahnschrift"/>
              <a:cs typeface="Bahnschrif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225</TotalTime>
  <Words>1087</Words>
  <Application>Microsoft Office PowerPoint</Application>
  <PresentationFormat>Widescreen</PresentationFormat>
  <Paragraphs>73</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Arial MT</vt:lpstr>
      <vt:lpstr>Bahnschrift</vt:lpstr>
      <vt:lpstr>Calibri Light</vt:lpstr>
      <vt:lpstr>Corbel</vt:lpstr>
      <vt:lpstr>Office Theme</vt:lpstr>
      <vt:lpstr>PowerPoint Presentation</vt:lpstr>
      <vt:lpstr>PowerPoint Presentation</vt:lpstr>
      <vt:lpstr>Project Overview</vt:lpstr>
      <vt:lpstr>PowerPoint Presentation</vt:lpstr>
      <vt:lpstr>About the Dataset</vt:lpstr>
      <vt:lpstr>Key Business Questions</vt:lpstr>
      <vt:lpstr>Data Cleaning Steps</vt:lpstr>
      <vt:lpstr>PowerPoint Presentation</vt:lpstr>
      <vt:lpstr>The customer base is almost evenly split between male and female users. However, churn distribution is slightly higher among females. This suggests that gender has a mild impact, but it still contributes to overall churn behavior.</vt:lpstr>
      <vt:lpstr>PowerPoint Presentation</vt:lpstr>
      <vt:lpstr>Month-to-month contracts make up the largest portion of the dataset. These customers show the highest churn rate because short-term contracts provide flexibility to switch providers easily. Long-term contracts show more customer loyalty.</vt:lpstr>
      <vt:lpstr>Customers with lower total charges tend to churn more. This indicates that new or short-tenure customers are more likely to leave early, possibly due to dissatisfaction with early service experiences. Long-term users show more commitment.</vt:lpstr>
      <vt:lpstr>Customers with higher monthly charges churn more frequently. High pricing appears to be a major reason for churn. Reducing bill shock or offering discounts might help retain these customers.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TELECOM CUSTOMER CHURN ANALYSIS</dc:title>
  <dc:creator>rajesh tank</dc:creator>
  <cp:lastModifiedBy>Bishal Bikash Mohanty</cp:lastModifiedBy>
  <cp:revision>22</cp:revision>
  <dcterms:created xsi:type="dcterms:W3CDTF">2025-11-28T06:01:11Z</dcterms:created>
  <dcterms:modified xsi:type="dcterms:W3CDTF">2025-11-28T09:56:26Z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2023-04-01T00:00:00Z</vt:filetime>
  </property>
  <property fmtid="{D5CDD505-2E9C-101B-9397-08002B2CF9AE}" pid="3" name="Creator">
    <vt:lpwstr>Microsoft® PowerPoint® 2019</vt:lpwstr>
  </property>
  <property fmtid="{D5CDD505-2E9C-101B-9397-08002B2CF9AE}" pid="4" name="LastSaved">
    <vt:filetime>2025-11-28T00:00:00Z</vt:filetime>
  </property>
  <property fmtid="{D5CDD505-2E9C-101B-9397-08002B2CF9AE}" pid="5" name="Producer">
    <vt:lpwstr>Microsoft® PowerPoint® 2019</vt:lpwstr>
  </property>
</Properties>
</file>